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74" r:id="rId3"/>
    <p:sldId id="275" r:id="rId4"/>
    <p:sldId id="262" r:id="rId5"/>
    <p:sldId id="270" r:id="rId6"/>
    <p:sldId id="272" r:id="rId7"/>
    <p:sldId id="259" r:id="rId8"/>
    <p:sldId id="263" r:id="rId9"/>
    <p:sldId id="264" r:id="rId10"/>
    <p:sldId id="258" r:id="rId11"/>
    <p:sldId id="265" r:id="rId12"/>
    <p:sldId id="269" r:id="rId13"/>
    <p:sldId id="268" r:id="rId14"/>
    <p:sldId id="271" r:id="rId15"/>
    <p:sldId id="26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B68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3" autoAdjust="0"/>
    <p:restoredTop sz="94660"/>
  </p:normalViewPr>
  <p:slideViewPr>
    <p:cSldViewPr snapToGrid="0">
      <p:cViewPr varScale="1">
        <p:scale>
          <a:sx n="92" d="100"/>
          <a:sy n="92" d="100"/>
        </p:scale>
        <p:origin x="48" y="2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F0928-57C9-4D71-3225-085E24D98D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77EB404-C4C8-F6DC-05D4-7980869095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A843D6E-2252-D9FE-3947-6A0E458F2D40}"/>
              </a:ext>
            </a:extLst>
          </p:cNvPr>
          <p:cNvSpPr>
            <a:spLocks noGrp="1"/>
          </p:cNvSpPr>
          <p:nvPr>
            <p:ph type="dt" sz="half" idx="10"/>
          </p:nvPr>
        </p:nvSpPr>
        <p:spPr/>
        <p:txBody>
          <a:bodyPr/>
          <a:lstStyle/>
          <a:p>
            <a:fld id="{51507286-B190-4FF8-BA38-0D3ACE2EBCCC}" type="datetimeFigureOut">
              <a:rPr lang="en-IN" smtClean="0"/>
              <a:t>07-04-2024</a:t>
            </a:fld>
            <a:endParaRPr lang="en-IN"/>
          </a:p>
        </p:txBody>
      </p:sp>
      <p:sp>
        <p:nvSpPr>
          <p:cNvPr id="5" name="Footer Placeholder 4">
            <a:extLst>
              <a:ext uri="{FF2B5EF4-FFF2-40B4-BE49-F238E27FC236}">
                <a16:creationId xmlns:a16="http://schemas.microsoft.com/office/drawing/2014/main" id="{2436108C-36F1-87DC-E127-B3BCD91A2B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318D54-9C4B-E678-2487-EF64D5B21F73}"/>
              </a:ext>
            </a:extLst>
          </p:cNvPr>
          <p:cNvSpPr>
            <a:spLocks noGrp="1"/>
          </p:cNvSpPr>
          <p:nvPr>
            <p:ph type="sldNum" sz="quarter" idx="12"/>
          </p:nvPr>
        </p:nvSpPr>
        <p:spPr/>
        <p:txBody>
          <a:bodyPr/>
          <a:lstStyle/>
          <a:p>
            <a:fld id="{D4536EF7-03FD-4FC3-AB09-56DF11BFA3ED}" type="slidenum">
              <a:rPr lang="en-IN" smtClean="0"/>
              <a:t>‹#›</a:t>
            </a:fld>
            <a:endParaRPr lang="en-IN"/>
          </a:p>
        </p:txBody>
      </p:sp>
    </p:spTree>
    <p:extLst>
      <p:ext uri="{BB962C8B-B14F-4D97-AF65-F5344CB8AC3E}">
        <p14:creationId xmlns:p14="http://schemas.microsoft.com/office/powerpoint/2010/main" val="2783270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EA5BA-BA80-B67E-7163-6B2F337110B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9B7F995-A302-6D62-08D3-D3BA7F9B9D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7BC0B0-CEF3-E2BA-0DD2-22F5E9283BE2}"/>
              </a:ext>
            </a:extLst>
          </p:cNvPr>
          <p:cNvSpPr>
            <a:spLocks noGrp="1"/>
          </p:cNvSpPr>
          <p:nvPr>
            <p:ph type="dt" sz="half" idx="10"/>
          </p:nvPr>
        </p:nvSpPr>
        <p:spPr/>
        <p:txBody>
          <a:bodyPr/>
          <a:lstStyle/>
          <a:p>
            <a:fld id="{51507286-B190-4FF8-BA38-0D3ACE2EBCCC}" type="datetimeFigureOut">
              <a:rPr lang="en-IN" smtClean="0"/>
              <a:t>07-04-2024</a:t>
            </a:fld>
            <a:endParaRPr lang="en-IN"/>
          </a:p>
        </p:txBody>
      </p:sp>
      <p:sp>
        <p:nvSpPr>
          <p:cNvPr id="5" name="Footer Placeholder 4">
            <a:extLst>
              <a:ext uri="{FF2B5EF4-FFF2-40B4-BE49-F238E27FC236}">
                <a16:creationId xmlns:a16="http://schemas.microsoft.com/office/drawing/2014/main" id="{8B2C9424-2809-96A7-577D-FC083B18F8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9FD1FA-B259-C427-8DB9-DAFEF2B113BC}"/>
              </a:ext>
            </a:extLst>
          </p:cNvPr>
          <p:cNvSpPr>
            <a:spLocks noGrp="1"/>
          </p:cNvSpPr>
          <p:nvPr>
            <p:ph type="sldNum" sz="quarter" idx="12"/>
          </p:nvPr>
        </p:nvSpPr>
        <p:spPr/>
        <p:txBody>
          <a:bodyPr/>
          <a:lstStyle/>
          <a:p>
            <a:fld id="{D4536EF7-03FD-4FC3-AB09-56DF11BFA3ED}" type="slidenum">
              <a:rPr lang="en-IN" smtClean="0"/>
              <a:t>‹#›</a:t>
            </a:fld>
            <a:endParaRPr lang="en-IN"/>
          </a:p>
        </p:txBody>
      </p:sp>
    </p:spTree>
    <p:extLst>
      <p:ext uri="{BB962C8B-B14F-4D97-AF65-F5344CB8AC3E}">
        <p14:creationId xmlns:p14="http://schemas.microsoft.com/office/powerpoint/2010/main" val="3707928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FBCF4-6B5B-D03B-ABD5-B515A59C8C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CC09A40-BE28-FC6F-18F0-452A854C039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2B3DCB-01F8-89D5-9E59-1B4F70548D8F}"/>
              </a:ext>
            </a:extLst>
          </p:cNvPr>
          <p:cNvSpPr>
            <a:spLocks noGrp="1"/>
          </p:cNvSpPr>
          <p:nvPr>
            <p:ph type="dt" sz="half" idx="10"/>
          </p:nvPr>
        </p:nvSpPr>
        <p:spPr/>
        <p:txBody>
          <a:bodyPr/>
          <a:lstStyle/>
          <a:p>
            <a:fld id="{51507286-B190-4FF8-BA38-0D3ACE2EBCCC}" type="datetimeFigureOut">
              <a:rPr lang="en-IN" smtClean="0"/>
              <a:t>07-04-2024</a:t>
            </a:fld>
            <a:endParaRPr lang="en-IN"/>
          </a:p>
        </p:txBody>
      </p:sp>
      <p:sp>
        <p:nvSpPr>
          <p:cNvPr id="5" name="Footer Placeholder 4">
            <a:extLst>
              <a:ext uri="{FF2B5EF4-FFF2-40B4-BE49-F238E27FC236}">
                <a16:creationId xmlns:a16="http://schemas.microsoft.com/office/drawing/2014/main" id="{4E7B27D1-5718-AA15-883A-027D8D2757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38F68F-EDA9-2B87-5839-F44EEA7FC46B}"/>
              </a:ext>
            </a:extLst>
          </p:cNvPr>
          <p:cNvSpPr>
            <a:spLocks noGrp="1"/>
          </p:cNvSpPr>
          <p:nvPr>
            <p:ph type="sldNum" sz="quarter" idx="12"/>
          </p:nvPr>
        </p:nvSpPr>
        <p:spPr/>
        <p:txBody>
          <a:bodyPr/>
          <a:lstStyle/>
          <a:p>
            <a:fld id="{D4536EF7-03FD-4FC3-AB09-56DF11BFA3ED}" type="slidenum">
              <a:rPr lang="en-IN" smtClean="0"/>
              <a:t>‹#›</a:t>
            </a:fld>
            <a:endParaRPr lang="en-IN"/>
          </a:p>
        </p:txBody>
      </p:sp>
    </p:spTree>
    <p:extLst>
      <p:ext uri="{BB962C8B-B14F-4D97-AF65-F5344CB8AC3E}">
        <p14:creationId xmlns:p14="http://schemas.microsoft.com/office/powerpoint/2010/main" val="536870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BA73A-286A-A0BF-9F5D-98FE0D726F8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88B34D5-D7B3-B233-A2EE-3BA8921FE5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2870A7D-1F44-1188-1AC1-98E131A582B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1C1B9B0-A330-A88C-3333-B0AB70F96FEE}"/>
              </a:ext>
            </a:extLst>
          </p:cNvPr>
          <p:cNvSpPr>
            <a:spLocks noGrp="1"/>
          </p:cNvSpPr>
          <p:nvPr>
            <p:ph type="dt" sz="half" idx="10"/>
          </p:nvPr>
        </p:nvSpPr>
        <p:spPr/>
        <p:txBody>
          <a:bodyPr/>
          <a:lstStyle/>
          <a:p>
            <a:fld id="{51507286-B190-4FF8-BA38-0D3ACE2EBCCC}" type="datetimeFigureOut">
              <a:rPr lang="en-IN" smtClean="0"/>
              <a:t>07-04-2024</a:t>
            </a:fld>
            <a:endParaRPr lang="en-IN"/>
          </a:p>
        </p:txBody>
      </p:sp>
      <p:sp>
        <p:nvSpPr>
          <p:cNvPr id="6" name="Footer Placeholder 5">
            <a:extLst>
              <a:ext uri="{FF2B5EF4-FFF2-40B4-BE49-F238E27FC236}">
                <a16:creationId xmlns:a16="http://schemas.microsoft.com/office/drawing/2014/main" id="{013827B1-AA06-971E-DBE4-AAE0A1F3CE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943A722-B7F1-7A92-6797-22DBDBD0E01C}"/>
              </a:ext>
            </a:extLst>
          </p:cNvPr>
          <p:cNvSpPr>
            <a:spLocks noGrp="1"/>
          </p:cNvSpPr>
          <p:nvPr>
            <p:ph type="sldNum" sz="quarter" idx="12"/>
          </p:nvPr>
        </p:nvSpPr>
        <p:spPr/>
        <p:txBody>
          <a:bodyPr/>
          <a:lstStyle/>
          <a:p>
            <a:fld id="{D4536EF7-03FD-4FC3-AB09-56DF11BFA3ED}" type="slidenum">
              <a:rPr lang="en-IN" smtClean="0"/>
              <a:t>‹#›</a:t>
            </a:fld>
            <a:endParaRPr lang="en-IN"/>
          </a:p>
        </p:txBody>
      </p:sp>
    </p:spTree>
    <p:extLst>
      <p:ext uri="{BB962C8B-B14F-4D97-AF65-F5344CB8AC3E}">
        <p14:creationId xmlns:p14="http://schemas.microsoft.com/office/powerpoint/2010/main" val="1602322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56A88-4348-E718-8C9E-CEE9FBBDA71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07A4370-36F0-E6C3-700F-3A70C46F48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1FDA85-B2AA-5606-639C-DB9434D6EC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F1E600-7614-F1ED-57D2-BE100B80DB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3998D0-0945-C9DD-94CF-070D832606A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A0E67A3-BB10-AEBD-4AC8-F777E76EC4E0}"/>
              </a:ext>
            </a:extLst>
          </p:cNvPr>
          <p:cNvSpPr>
            <a:spLocks noGrp="1"/>
          </p:cNvSpPr>
          <p:nvPr>
            <p:ph type="dt" sz="half" idx="10"/>
          </p:nvPr>
        </p:nvSpPr>
        <p:spPr/>
        <p:txBody>
          <a:bodyPr/>
          <a:lstStyle/>
          <a:p>
            <a:fld id="{51507286-B190-4FF8-BA38-0D3ACE2EBCCC}" type="datetimeFigureOut">
              <a:rPr lang="en-IN" smtClean="0"/>
              <a:t>07-04-2024</a:t>
            </a:fld>
            <a:endParaRPr lang="en-IN"/>
          </a:p>
        </p:txBody>
      </p:sp>
      <p:sp>
        <p:nvSpPr>
          <p:cNvPr id="8" name="Footer Placeholder 7">
            <a:extLst>
              <a:ext uri="{FF2B5EF4-FFF2-40B4-BE49-F238E27FC236}">
                <a16:creationId xmlns:a16="http://schemas.microsoft.com/office/drawing/2014/main" id="{0971056B-748A-84C4-3A70-718DA13AC33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84180D5-88B7-4095-CBFB-CBA3E4075FA0}"/>
              </a:ext>
            </a:extLst>
          </p:cNvPr>
          <p:cNvSpPr>
            <a:spLocks noGrp="1"/>
          </p:cNvSpPr>
          <p:nvPr>
            <p:ph type="sldNum" sz="quarter" idx="12"/>
          </p:nvPr>
        </p:nvSpPr>
        <p:spPr/>
        <p:txBody>
          <a:bodyPr/>
          <a:lstStyle/>
          <a:p>
            <a:fld id="{D4536EF7-03FD-4FC3-AB09-56DF11BFA3ED}" type="slidenum">
              <a:rPr lang="en-IN" smtClean="0"/>
              <a:t>‹#›</a:t>
            </a:fld>
            <a:endParaRPr lang="en-IN"/>
          </a:p>
        </p:txBody>
      </p:sp>
    </p:spTree>
    <p:extLst>
      <p:ext uri="{BB962C8B-B14F-4D97-AF65-F5344CB8AC3E}">
        <p14:creationId xmlns:p14="http://schemas.microsoft.com/office/powerpoint/2010/main" val="1909234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26FE5-B660-4233-5E8D-D633ABFE0C5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A0BC33B-5EA3-5625-EC96-47A65396A7AB}"/>
              </a:ext>
            </a:extLst>
          </p:cNvPr>
          <p:cNvSpPr>
            <a:spLocks noGrp="1"/>
          </p:cNvSpPr>
          <p:nvPr>
            <p:ph type="dt" sz="half" idx="10"/>
          </p:nvPr>
        </p:nvSpPr>
        <p:spPr/>
        <p:txBody>
          <a:bodyPr/>
          <a:lstStyle/>
          <a:p>
            <a:fld id="{51507286-B190-4FF8-BA38-0D3ACE2EBCCC}" type="datetimeFigureOut">
              <a:rPr lang="en-IN" smtClean="0"/>
              <a:t>07-04-2024</a:t>
            </a:fld>
            <a:endParaRPr lang="en-IN"/>
          </a:p>
        </p:txBody>
      </p:sp>
      <p:sp>
        <p:nvSpPr>
          <p:cNvPr id="4" name="Footer Placeholder 3">
            <a:extLst>
              <a:ext uri="{FF2B5EF4-FFF2-40B4-BE49-F238E27FC236}">
                <a16:creationId xmlns:a16="http://schemas.microsoft.com/office/drawing/2014/main" id="{FCF841EB-6AED-CC12-F0C7-14F8C7C6E17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C7B995C-735D-730D-686B-A548DA1D9851}"/>
              </a:ext>
            </a:extLst>
          </p:cNvPr>
          <p:cNvSpPr>
            <a:spLocks noGrp="1"/>
          </p:cNvSpPr>
          <p:nvPr>
            <p:ph type="sldNum" sz="quarter" idx="12"/>
          </p:nvPr>
        </p:nvSpPr>
        <p:spPr/>
        <p:txBody>
          <a:bodyPr/>
          <a:lstStyle/>
          <a:p>
            <a:fld id="{D4536EF7-03FD-4FC3-AB09-56DF11BFA3ED}" type="slidenum">
              <a:rPr lang="en-IN" smtClean="0"/>
              <a:t>‹#›</a:t>
            </a:fld>
            <a:endParaRPr lang="en-IN"/>
          </a:p>
        </p:txBody>
      </p:sp>
    </p:spTree>
    <p:extLst>
      <p:ext uri="{BB962C8B-B14F-4D97-AF65-F5344CB8AC3E}">
        <p14:creationId xmlns:p14="http://schemas.microsoft.com/office/powerpoint/2010/main" val="452817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D4050D-C2B2-37EA-8028-7182F52FCD9C}"/>
              </a:ext>
            </a:extLst>
          </p:cNvPr>
          <p:cNvSpPr>
            <a:spLocks noGrp="1"/>
          </p:cNvSpPr>
          <p:nvPr>
            <p:ph type="dt" sz="half" idx="10"/>
          </p:nvPr>
        </p:nvSpPr>
        <p:spPr/>
        <p:txBody>
          <a:bodyPr/>
          <a:lstStyle/>
          <a:p>
            <a:fld id="{51507286-B190-4FF8-BA38-0D3ACE2EBCCC}" type="datetimeFigureOut">
              <a:rPr lang="en-IN" smtClean="0"/>
              <a:t>07-04-2024</a:t>
            </a:fld>
            <a:endParaRPr lang="en-IN"/>
          </a:p>
        </p:txBody>
      </p:sp>
      <p:sp>
        <p:nvSpPr>
          <p:cNvPr id="3" name="Footer Placeholder 2">
            <a:extLst>
              <a:ext uri="{FF2B5EF4-FFF2-40B4-BE49-F238E27FC236}">
                <a16:creationId xmlns:a16="http://schemas.microsoft.com/office/drawing/2014/main" id="{08721C6B-2CB6-6D1C-5214-8EEE8B84CED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BA5FE53-2B89-6698-6F59-BA750FDD5095}"/>
              </a:ext>
            </a:extLst>
          </p:cNvPr>
          <p:cNvSpPr>
            <a:spLocks noGrp="1"/>
          </p:cNvSpPr>
          <p:nvPr>
            <p:ph type="sldNum" sz="quarter" idx="12"/>
          </p:nvPr>
        </p:nvSpPr>
        <p:spPr/>
        <p:txBody>
          <a:bodyPr/>
          <a:lstStyle/>
          <a:p>
            <a:fld id="{D4536EF7-03FD-4FC3-AB09-56DF11BFA3ED}" type="slidenum">
              <a:rPr lang="en-IN" smtClean="0"/>
              <a:t>‹#›</a:t>
            </a:fld>
            <a:endParaRPr lang="en-IN"/>
          </a:p>
        </p:txBody>
      </p:sp>
    </p:spTree>
    <p:extLst>
      <p:ext uri="{BB962C8B-B14F-4D97-AF65-F5344CB8AC3E}">
        <p14:creationId xmlns:p14="http://schemas.microsoft.com/office/powerpoint/2010/main" val="30236414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846B2-2D19-A885-58FB-EE775C4C2C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F439ED8-F733-E465-CC91-0F859D8BF2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FD9466D-FCDF-75C2-4193-0D3976D208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8CE5F6-8939-9333-1483-8FE3B30CB75C}"/>
              </a:ext>
            </a:extLst>
          </p:cNvPr>
          <p:cNvSpPr>
            <a:spLocks noGrp="1"/>
          </p:cNvSpPr>
          <p:nvPr>
            <p:ph type="dt" sz="half" idx="10"/>
          </p:nvPr>
        </p:nvSpPr>
        <p:spPr/>
        <p:txBody>
          <a:bodyPr/>
          <a:lstStyle/>
          <a:p>
            <a:fld id="{51507286-B190-4FF8-BA38-0D3ACE2EBCCC}" type="datetimeFigureOut">
              <a:rPr lang="en-IN" smtClean="0"/>
              <a:t>07-04-2024</a:t>
            </a:fld>
            <a:endParaRPr lang="en-IN"/>
          </a:p>
        </p:txBody>
      </p:sp>
      <p:sp>
        <p:nvSpPr>
          <p:cNvPr id="6" name="Footer Placeholder 5">
            <a:extLst>
              <a:ext uri="{FF2B5EF4-FFF2-40B4-BE49-F238E27FC236}">
                <a16:creationId xmlns:a16="http://schemas.microsoft.com/office/drawing/2014/main" id="{1B674390-5344-A11E-9262-692B8F6BF9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25AB26-66AF-5B81-BF69-575C3BE5A7FB}"/>
              </a:ext>
            </a:extLst>
          </p:cNvPr>
          <p:cNvSpPr>
            <a:spLocks noGrp="1"/>
          </p:cNvSpPr>
          <p:nvPr>
            <p:ph type="sldNum" sz="quarter" idx="12"/>
          </p:nvPr>
        </p:nvSpPr>
        <p:spPr/>
        <p:txBody>
          <a:bodyPr/>
          <a:lstStyle/>
          <a:p>
            <a:fld id="{D4536EF7-03FD-4FC3-AB09-56DF11BFA3ED}" type="slidenum">
              <a:rPr lang="en-IN" smtClean="0"/>
              <a:t>‹#›</a:t>
            </a:fld>
            <a:endParaRPr lang="en-IN"/>
          </a:p>
        </p:txBody>
      </p:sp>
    </p:spTree>
    <p:extLst>
      <p:ext uri="{BB962C8B-B14F-4D97-AF65-F5344CB8AC3E}">
        <p14:creationId xmlns:p14="http://schemas.microsoft.com/office/powerpoint/2010/main" val="1249079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6DED4-4082-8BFD-9CC9-69A78F9F3A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D21B72D-5C1B-94AB-1AEA-EFC90D2BB6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86B7F57-D001-5E6E-3973-410F370F1B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F24AC6-ADCA-9E53-F93F-61151304202D}"/>
              </a:ext>
            </a:extLst>
          </p:cNvPr>
          <p:cNvSpPr>
            <a:spLocks noGrp="1"/>
          </p:cNvSpPr>
          <p:nvPr>
            <p:ph type="dt" sz="half" idx="10"/>
          </p:nvPr>
        </p:nvSpPr>
        <p:spPr/>
        <p:txBody>
          <a:bodyPr/>
          <a:lstStyle/>
          <a:p>
            <a:fld id="{51507286-B190-4FF8-BA38-0D3ACE2EBCCC}" type="datetimeFigureOut">
              <a:rPr lang="en-IN" smtClean="0"/>
              <a:t>07-04-2024</a:t>
            </a:fld>
            <a:endParaRPr lang="en-IN"/>
          </a:p>
        </p:txBody>
      </p:sp>
      <p:sp>
        <p:nvSpPr>
          <p:cNvPr id="6" name="Footer Placeholder 5">
            <a:extLst>
              <a:ext uri="{FF2B5EF4-FFF2-40B4-BE49-F238E27FC236}">
                <a16:creationId xmlns:a16="http://schemas.microsoft.com/office/drawing/2014/main" id="{F95807E5-95CD-1DC1-C061-1E7BE6C03A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78F2B9-7767-BBD2-BCF6-B79673894915}"/>
              </a:ext>
            </a:extLst>
          </p:cNvPr>
          <p:cNvSpPr>
            <a:spLocks noGrp="1"/>
          </p:cNvSpPr>
          <p:nvPr>
            <p:ph type="sldNum" sz="quarter" idx="12"/>
          </p:nvPr>
        </p:nvSpPr>
        <p:spPr/>
        <p:txBody>
          <a:bodyPr/>
          <a:lstStyle/>
          <a:p>
            <a:fld id="{D4536EF7-03FD-4FC3-AB09-56DF11BFA3ED}" type="slidenum">
              <a:rPr lang="en-IN" smtClean="0"/>
              <a:t>‹#›</a:t>
            </a:fld>
            <a:endParaRPr lang="en-IN"/>
          </a:p>
        </p:txBody>
      </p:sp>
    </p:spTree>
    <p:extLst>
      <p:ext uri="{BB962C8B-B14F-4D97-AF65-F5344CB8AC3E}">
        <p14:creationId xmlns:p14="http://schemas.microsoft.com/office/powerpoint/2010/main" val="2098853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DE0C5-B236-FD2E-5B87-48A8094C2B9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081397D-0451-B005-7127-AB779E56E0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7ACBA1-A5BB-44BF-8ECF-651FDB7C2C9A}"/>
              </a:ext>
            </a:extLst>
          </p:cNvPr>
          <p:cNvSpPr>
            <a:spLocks noGrp="1"/>
          </p:cNvSpPr>
          <p:nvPr>
            <p:ph type="dt" sz="half" idx="10"/>
          </p:nvPr>
        </p:nvSpPr>
        <p:spPr/>
        <p:txBody>
          <a:bodyPr/>
          <a:lstStyle/>
          <a:p>
            <a:fld id="{51507286-B190-4FF8-BA38-0D3ACE2EBCCC}" type="datetimeFigureOut">
              <a:rPr lang="en-IN" smtClean="0"/>
              <a:t>07-04-2024</a:t>
            </a:fld>
            <a:endParaRPr lang="en-IN"/>
          </a:p>
        </p:txBody>
      </p:sp>
      <p:sp>
        <p:nvSpPr>
          <p:cNvPr id="5" name="Footer Placeholder 4">
            <a:extLst>
              <a:ext uri="{FF2B5EF4-FFF2-40B4-BE49-F238E27FC236}">
                <a16:creationId xmlns:a16="http://schemas.microsoft.com/office/drawing/2014/main" id="{99787448-9023-8CD8-1068-0B94485667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96E78B-907F-44C2-019C-52B0596715E5}"/>
              </a:ext>
            </a:extLst>
          </p:cNvPr>
          <p:cNvSpPr>
            <a:spLocks noGrp="1"/>
          </p:cNvSpPr>
          <p:nvPr>
            <p:ph type="sldNum" sz="quarter" idx="12"/>
          </p:nvPr>
        </p:nvSpPr>
        <p:spPr/>
        <p:txBody>
          <a:bodyPr/>
          <a:lstStyle/>
          <a:p>
            <a:fld id="{D4536EF7-03FD-4FC3-AB09-56DF11BFA3ED}" type="slidenum">
              <a:rPr lang="en-IN" smtClean="0"/>
              <a:t>‹#›</a:t>
            </a:fld>
            <a:endParaRPr lang="en-IN"/>
          </a:p>
        </p:txBody>
      </p:sp>
    </p:spTree>
    <p:extLst>
      <p:ext uri="{BB962C8B-B14F-4D97-AF65-F5344CB8AC3E}">
        <p14:creationId xmlns:p14="http://schemas.microsoft.com/office/powerpoint/2010/main" val="3303245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FC5D9C-0499-9563-79D6-BE836EBDD3B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DE957C3-F58C-CEB7-9451-3AE38F37B35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ED9067-1F16-40D4-22B9-2DC76A613E7F}"/>
              </a:ext>
            </a:extLst>
          </p:cNvPr>
          <p:cNvSpPr>
            <a:spLocks noGrp="1"/>
          </p:cNvSpPr>
          <p:nvPr>
            <p:ph type="dt" sz="half" idx="10"/>
          </p:nvPr>
        </p:nvSpPr>
        <p:spPr/>
        <p:txBody>
          <a:bodyPr/>
          <a:lstStyle/>
          <a:p>
            <a:fld id="{51507286-B190-4FF8-BA38-0D3ACE2EBCCC}" type="datetimeFigureOut">
              <a:rPr lang="en-IN" smtClean="0"/>
              <a:t>07-04-2024</a:t>
            </a:fld>
            <a:endParaRPr lang="en-IN"/>
          </a:p>
        </p:txBody>
      </p:sp>
      <p:sp>
        <p:nvSpPr>
          <p:cNvPr id="5" name="Footer Placeholder 4">
            <a:extLst>
              <a:ext uri="{FF2B5EF4-FFF2-40B4-BE49-F238E27FC236}">
                <a16:creationId xmlns:a16="http://schemas.microsoft.com/office/drawing/2014/main" id="{0CC54987-5C93-0414-240D-3E053EDE7A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D36308-B487-611D-6D81-2315B1AB26D8}"/>
              </a:ext>
            </a:extLst>
          </p:cNvPr>
          <p:cNvSpPr>
            <a:spLocks noGrp="1"/>
          </p:cNvSpPr>
          <p:nvPr>
            <p:ph type="sldNum" sz="quarter" idx="12"/>
          </p:nvPr>
        </p:nvSpPr>
        <p:spPr/>
        <p:txBody>
          <a:bodyPr/>
          <a:lstStyle/>
          <a:p>
            <a:fld id="{D4536EF7-03FD-4FC3-AB09-56DF11BFA3ED}" type="slidenum">
              <a:rPr lang="en-IN" smtClean="0"/>
              <a:t>‹#›</a:t>
            </a:fld>
            <a:endParaRPr lang="en-IN"/>
          </a:p>
        </p:txBody>
      </p:sp>
    </p:spTree>
    <p:extLst>
      <p:ext uri="{BB962C8B-B14F-4D97-AF65-F5344CB8AC3E}">
        <p14:creationId xmlns:p14="http://schemas.microsoft.com/office/powerpoint/2010/main" val="1669233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C8C20C-83FD-9B06-ACD5-ABE6FAF389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C021F76-FE47-0578-FC5C-E99FB75AFB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D1EA48-AA8F-DA92-E800-B03ECAF888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507286-B190-4FF8-BA38-0D3ACE2EBCCC}" type="datetimeFigureOut">
              <a:rPr lang="en-IN" smtClean="0"/>
              <a:t>07-04-2024</a:t>
            </a:fld>
            <a:endParaRPr lang="en-IN"/>
          </a:p>
        </p:txBody>
      </p:sp>
      <p:sp>
        <p:nvSpPr>
          <p:cNvPr id="5" name="Footer Placeholder 4">
            <a:extLst>
              <a:ext uri="{FF2B5EF4-FFF2-40B4-BE49-F238E27FC236}">
                <a16:creationId xmlns:a16="http://schemas.microsoft.com/office/drawing/2014/main" id="{EC9A1B7D-2624-1C4E-0BD7-E29A715949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3B09857-ABF8-636F-494C-6E8F96386F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536EF7-03FD-4FC3-AB09-56DF11BFA3ED}" type="slidenum">
              <a:rPr lang="en-IN" smtClean="0"/>
              <a:t>‹#›</a:t>
            </a:fld>
            <a:endParaRPr lang="en-IN"/>
          </a:p>
        </p:txBody>
      </p:sp>
    </p:spTree>
    <p:extLst>
      <p:ext uri="{BB962C8B-B14F-4D97-AF65-F5344CB8AC3E}">
        <p14:creationId xmlns:p14="http://schemas.microsoft.com/office/powerpoint/2010/main" val="16417100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04815D9-A2DB-2C6B-337D-66A4E61B9A3B}"/>
              </a:ext>
            </a:extLst>
          </p:cNvPr>
          <p:cNvPicPr>
            <a:picLocks noChangeAspect="1"/>
          </p:cNvPicPr>
          <p:nvPr/>
        </p:nvPicPr>
        <p:blipFill>
          <a:blip r:embed="rId2"/>
          <a:stretch>
            <a:fillRect/>
          </a:stretch>
        </p:blipFill>
        <p:spPr>
          <a:xfrm>
            <a:off x="0" y="10514"/>
            <a:ext cx="12192000" cy="6841006"/>
          </a:xfrm>
          <a:prstGeom prst="rect">
            <a:avLst/>
          </a:prstGeom>
        </p:spPr>
      </p:pic>
      <p:sp>
        <p:nvSpPr>
          <p:cNvPr id="4" name="Rectangle 3">
            <a:extLst>
              <a:ext uri="{FF2B5EF4-FFF2-40B4-BE49-F238E27FC236}">
                <a16:creationId xmlns:a16="http://schemas.microsoft.com/office/drawing/2014/main" id="{F41F6AA7-4C97-F6EB-D283-9279F5C972EB}"/>
              </a:ext>
            </a:extLst>
          </p:cNvPr>
          <p:cNvSpPr/>
          <p:nvPr/>
        </p:nvSpPr>
        <p:spPr>
          <a:xfrm>
            <a:off x="519545" y="2234045"/>
            <a:ext cx="6115050" cy="185477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362F4AC6-D6AE-9E3C-E06D-1F7141D466BD}"/>
              </a:ext>
            </a:extLst>
          </p:cNvPr>
          <p:cNvSpPr txBox="1"/>
          <p:nvPr/>
        </p:nvSpPr>
        <p:spPr>
          <a:xfrm>
            <a:off x="519545" y="1918407"/>
            <a:ext cx="5522768" cy="2123658"/>
          </a:xfrm>
          <a:prstGeom prst="rect">
            <a:avLst/>
          </a:prstGeom>
          <a:noFill/>
        </p:spPr>
        <p:txBody>
          <a:bodyPr wrap="square" rtlCol="0">
            <a:spAutoFit/>
          </a:bodyPr>
          <a:lstStyle/>
          <a:p>
            <a:r>
              <a:rPr lang="en-US" sz="4400" dirty="0"/>
              <a:t>INDUSTRIAL AUTOMATION WITH LINE FOLLOWER </a:t>
            </a:r>
            <a:endParaRPr lang="en-IN" sz="4400" dirty="0"/>
          </a:p>
        </p:txBody>
      </p:sp>
      <p:cxnSp>
        <p:nvCxnSpPr>
          <p:cNvPr id="7" name="Straight Connector 6">
            <a:extLst>
              <a:ext uri="{FF2B5EF4-FFF2-40B4-BE49-F238E27FC236}">
                <a16:creationId xmlns:a16="http://schemas.microsoft.com/office/drawing/2014/main" id="{6DEAB999-030F-7BC2-6637-453E8BC8C6F4}"/>
              </a:ext>
            </a:extLst>
          </p:cNvPr>
          <p:cNvCxnSpPr/>
          <p:nvPr/>
        </p:nvCxnSpPr>
        <p:spPr>
          <a:xfrm flipV="1">
            <a:off x="597477" y="4623955"/>
            <a:ext cx="6120246" cy="57150"/>
          </a:xfrm>
          <a:prstGeom prst="line">
            <a:avLst/>
          </a:prstGeom>
          <a:ln/>
        </p:spPr>
        <p:style>
          <a:lnRef idx="3">
            <a:schemeClr val="accent2"/>
          </a:lnRef>
          <a:fillRef idx="0">
            <a:schemeClr val="accent2"/>
          </a:fillRef>
          <a:effectRef idx="2">
            <a:schemeClr val="accent2"/>
          </a:effectRef>
          <a:fontRef idx="minor">
            <a:schemeClr val="tx1"/>
          </a:fontRef>
        </p:style>
      </p:cxnSp>
      <p:sp>
        <p:nvSpPr>
          <p:cNvPr id="8" name="TextBox 7">
            <a:extLst>
              <a:ext uri="{FF2B5EF4-FFF2-40B4-BE49-F238E27FC236}">
                <a16:creationId xmlns:a16="http://schemas.microsoft.com/office/drawing/2014/main" id="{B2AA87EB-9599-761E-6F51-D29ABD3E1215}"/>
              </a:ext>
            </a:extLst>
          </p:cNvPr>
          <p:cNvSpPr txBox="1"/>
          <p:nvPr/>
        </p:nvSpPr>
        <p:spPr>
          <a:xfrm>
            <a:off x="597477" y="5101936"/>
            <a:ext cx="5787737" cy="369332"/>
          </a:xfrm>
          <a:prstGeom prst="rect">
            <a:avLst/>
          </a:prstGeom>
          <a:noFill/>
        </p:spPr>
        <p:txBody>
          <a:bodyPr wrap="square" rtlCol="0">
            <a:spAutoFit/>
          </a:bodyPr>
          <a:lstStyle/>
          <a:p>
            <a:r>
              <a:rPr lang="en-US" dirty="0"/>
              <a:t>INDUSTRIAL ROBOTICS - EMD51504</a:t>
            </a:r>
            <a:endParaRPr lang="en-IN" dirty="0"/>
          </a:p>
        </p:txBody>
      </p:sp>
    </p:spTree>
    <p:extLst>
      <p:ext uri="{BB962C8B-B14F-4D97-AF65-F5344CB8AC3E}">
        <p14:creationId xmlns:p14="http://schemas.microsoft.com/office/powerpoint/2010/main" val="281414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DF7FCA6-63E4-FC5C-BC59-978F6B169583}"/>
              </a:ext>
            </a:extLst>
          </p:cNvPr>
          <p:cNvCxnSpPr>
            <a:cxnSpLocks/>
          </p:cNvCxnSpPr>
          <p:nvPr/>
        </p:nvCxnSpPr>
        <p:spPr>
          <a:xfrm>
            <a:off x="2930236" y="1350818"/>
            <a:ext cx="6255328" cy="0"/>
          </a:xfrm>
          <a:prstGeom prst="line">
            <a:avLst/>
          </a:prstGeom>
          <a:ln>
            <a:solidFill>
              <a:srgbClr val="BB684D"/>
            </a:solidFill>
          </a:ln>
        </p:spPr>
        <p:style>
          <a:lnRef idx="3">
            <a:schemeClr val="accent2"/>
          </a:lnRef>
          <a:fillRef idx="0">
            <a:schemeClr val="accent2"/>
          </a:fillRef>
          <a:effectRef idx="2">
            <a:schemeClr val="accent2"/>
          </a:effectRef>
          <a:fontRef idx="minor">
            <a:schemeClr val="tx1"/>
          </a:fontRef>
        </p:style>
      </p:cxnSp>
      <p:sp>
        <p:nvSpPr>
          <p:cNvPr id="9" name="TextBox 8">
            <a:extLst>
              <a:ext uri="{FF2B5EF4-FFF2-40B4-BE49-F238E27FC236}">
                <a16:creationId xmlns:a16="http://schemas.microsoft.com/office/drawing/2014/main" id="{BFF57F04-94A7-F863-B8CA-2BE5622B27EC}"/>
              </a:ext>
            </a:extLst>
          </p:cNvPr>
          <p:cNvSpPr txBox="1"/>
          <p:nvPr/>
        </p:nvSpPr>
        <p:spPr>
          <a:xfrm>
            <a:off x="2265219" y="275359"/>
            <a:ext cx="6920345" cy="707886"/>
          </a:xfrm>
          <a:prstGeom prst="rect">
            <a:avLst/>
          </a:prstGeom>
          <a:noFill/>
        </p:spPr>
        <p:txBody>
          <a:bodyPr wrap="square" rtlCol="0">
            <a:spAutoFit/>
          </a:bodyPr>
          <a:lstStyle/>
          <a:p>
            <a:pPr algn="ctr"/>
            <a:r>
              <a:rPr lang="en-US" sz="4000" dirty="0"/>
              <a:t>TEAM MEMBERS </a:t>
            </a:r>
            <a:endParaRPr lang="en-IN" sz="4000" dirty="0"/>
          </a:p>
        </p:txBody>
      </p:sp>
      <p:graphicFrame>
        <p:nvGraphicFramePr>
          <p:cNvPr id="11" name="Table 10">
            <a:extLst>
              <a:ext uri="{FF2B5EF4-FFF2-40B4-BE49-F238E27FC236}">
                <a16:creationId xmlns:a16="http://schemas.microsoft.com/office/drawing/2014/main" id="{53088F54-12F6-14A4-7FE1-A2AE29057797}"/>
              </a:ext>
            </a:extLst>
          </p:cNvPr>
          <p:cNvGraphicFramePr>
            <a:graphicFrameLocks noGrp="1"/>
          </p:cNvGraphicFramePr>
          <p:nvPr>
            <p:extLst>
              <p:ext uri="{D42A27DB-BD31-4B8C-83A1-F6EECF244321}">
                <p14:modId xmlns:p14="http://schemas.microsoft.com/office/powerpoint/2010/main" val="1351064752"/>
              </p:ext>
            </p:extLst>
          </p:nvPr>
        </p:nvGraphicFramePr>
        <p:xfrm>
          <a:off x="1978313" y="1718392"/>
          <a:ext cx="8127999" cy="3923872"/>
        </p:xfrm>
        <a:graphic>
          <a:graphicData uri="http://schemas.openxmlformats.org/drawingml/2006/table">
            <a:tbl>
              <a:tblPr firstRow="1" bandRow="1">
                <a:tableStyleId>{2D5ABB26-0587-4C30-8999-92F81FD0307C}</a:tableStyleId>
              </a:tblPr>
              <a:tblGrid>
                <a:gridCol w="484332">
                  <a:extLst>
                    <a:ext uri="{9D8B030D-6E8A-4147-A177-3AD203B41FA5}">
                      <a16:colId xmlns:a16="http://schemas.microsoft.com/office/drawing/2014/main" val="2696392136"/>
                    </a:ext>
                  </a:extLst>
                </a:gridCol>
                <a:gridCol w="4934334">
                  <a:extLst>
                    <a:ext uri="{9D8B030D-6E8A-4147-A177-3AD203B41FA5}">
                      <a16:colId xmlns:a16="http://schemas.microsoft.com/office/drawing/2014/main" val="2965607461"/>
                    </a:ext>
                  </a:extLst>
                </a:gridCol>
                <a:gridCol w="2709333">
                  <a:extLst>
                    <a:ext uri="{9D8B030D-6E8A-4147-A177-3AD203B41FA5}">
                      <a16:colId xmlns:a16="http://schemas.microsoft.com/office/drawing/2014/main" val="2237859633"/>
                    </a:ext>
                  </a:extLst>
                </a:gridCol>
              </a:tblGrid>
              <a:tr h="980968">
                <a:tc>
                  <a:txBody>
                    <a:bodyPr/>
                    <a:lstStyle/>
                    <a:p>
                      <a:r>
                        <a:rPr lang="en-US" sz="3200" b="1" dirty="0">
                          <a:latin typeface="+mj-lt"/>
                        </a:rPr>
                        <a:t>1</a:t>
                      </a:r>
                      <a:endParaRPr lang="en-IN" sz="3200" b="1" dirty="0">
                        <a:latin typeface="+mj-lt"/>
                      </a:endParaRPr>
                    </a:p>
                  </a:txBody>
                  <a:tcPr/>
                </a:tc>
                <a:tc>
                  <a:txBody>
                    <a:bodyPr/>
                    <a:lstStyle/>
                    <a:p>
                      <a:r>
                        <a:rPr lang="en-US" sz="3200" b="1" dirty="0">
                          <a:latin typeface="+mj-lt"/>
                        </a:rPr>
                        <a:t>SHAIK SAMEER SALAHUDDIN</a:t>
                      </a:r>
                      <a:endParaRPr lang="en-IN" sz="3200" b="1" dirty="0">
                        <a:latin typeface="+mj-lt"/>
                      </a:endParaRPr>
                    </a:p>
                  </a:txBody>
                  <a:tcPr/>
                </a:tc>
                <a:tc>
                  <a:txBody>
                    <a:bodyPr/>
                    <a:lstStyle/>
                    <a:p>
                      <a:r>
                        <a:rPr lang="en-US" sz="3200" b="1" dirty="0">
                          <a:latin typeface="+mj-lt"/>
                        </a:rPr>
                        <a:t>22125004</a:t>
                      </a:r>
                      <a:endParaRPr lang="en-IN" sz="3200" b="1" dirty="0">
                        <a:latin typeface="+mj-lt"/>
                      </a:endParaRPr>
                    </a:p>
                  </a:txBody>
                  <a:tcPr/>
                </a:tc>
                <a:extLst>
                  <a:ext uri="{0D108BD9-81ED-4DB2-BD59-A6C34878D82A}">
                    <a16:rowId xmlns:a16="http://schemas.microsoft.com/office/drawing/2014/main" val="459046412"/>
                  </a:ext>
                </a:extLst>
              </a:tr>
              <a:tr h="980968">
                <a:tc>
                  <a:txBody>
                    <a:bodyPr/>
                    <a:lstStyle/>
                    <a:p>
                      <a:r>
                        <a:rPr lang="en-US" sz="3200" b="1" dirty="0">
                          <a:latin typeface="+mj-lt"/>
                        </a:rPr>
                        <a:t>2</a:t>
                      </a:r>
                      <a:endParaRPr lang="en-IN" sz="3200" b="1" dirty="0">
                        <a:latin typeface="+mj-lt"/>
                      </a:endParaRPr>
                    </a:p>
                  </a:txBody>
                  <a:tcPr/>
                </a:tc>
                <a:tc>
                  <a:txBody>
                    <a:bodyPr/>
                    <a:lstStyle/>
                    <a:p>
                      <a:r>
                        <a:rPr lang="en-US" sz="3200" b="1" dirty="0">
                          <a:latin typeface="+mj-lt"/>
                        </a:rPr>
                        <a:t>THIRISHA .R</a:t>
                      </a:r>
                      <a:endParaRPr lang="en-IN" sz="3200" b="1" dirty="0">
                        <a:latin typeface="+mj-lt"/>
                      </a:endParaRPr>
                    </a:p>
                  </a:txBody>
                  <a:tcPr/>
                </a:tc>
                <a:tc>
                  <a:txBody>
                    <a:bodyPr/>
                    <a:lstStyle/>
                    <a:p>
                      <a:r>
                        <a:rPr lang="en-US" sz="3200" b="1" dirty="0">
                          <a:latin typeface="+mj-lt"/>
                        </a:rPr>
                        <a:t>22125022</a:t>
                      </a:r>
                      <a:endParaRPr lang="en-IN" sz="3200" b="1" dirty="0">
                        <a:latin typeface="+mj-lt"/>
                      </a:endParaRPr>
                    </a:p>
                  </a:txBody>
                  <a:tcPr/>
                </a:tc>
                <a:extLst>
                  <a:ext uri="{0D108BD9-81ED-4DB2-BD59-A6C34878D82A}">
                    <a16:rowId xmlns:a16="http://schemas.microsoft.com/office/drawing/2014/main" val="3425341408"/>
                  </a:ext>
                </a:extLst>
              </a:tr>
              <a:tr h="980968">
                <a:tc>
                  <a:txBody>
                    <a:bodyPr/>
                    <a:lstStyle/>
                    <a:p>
                      <a:r>
                        <a:rPr lang="en-US" sz="3200" b="1" dirty="0">
                          <a:latin typeface="+mj-lt"/>
                        </a:rPr>
                        <a:t>3</a:t>
                      </a:r>
                      <a:endParaRPr lang="en-IN" sz="3200" b="1" dirty="0">
                        <a:latin typeface="+mj-lt"/>
                      </a:endParaRPr>
                    </a:p>
                  </a:txBody>
                  <a:tcPr/>
                </a:tc>
                <a:tc>
                  <a:txBody>
                    <a:bodyPr/>
                    <a:lstStyle/>
                    <a:p>
                      <a:r>
                        <a:rPr lang="en-US" sz="3200" b="1" dirty="0">
                          <a:latin typeface="+mj-lt"/>
                        </a:rPr>
                        <a:t>SANDHIYA .R</a:t>
                      </a:r>
                      <a:endParaRPr lang="en-IN" sz="3200" b="1" dirty="0">
                        <a:latin typeface="+mj-lt"/>
                      </a:endParaRPr>
                    </a:p>
                  </a:txBody>
                  <a:tcPr/>
                </a:tc>
                <a:tc>
                  <a:txBody>
                    <a:bodyPr/>
                    <a:lstStyle/>
                    <a:p>
                      <a:r>
                        <a:rPr lang="en-US" sz="3200" b="1" dirty="0">
                          <a:latin typeface="+mj-lt"/>
                        </a:rPr>
                        <a:t>22125026</a:t>
                      </a:r>
                      <a:endParaRPr lang="en-IN" sz="3200" b="1" dirty="0">
                        <a:latin typeface="+mj-lt"/>
                      </a:endParaRPr>
                    </a:p>
                  </a:txBody>
                  <a:tcPr/>
                </a:tc>
                <a:extLst>
                  <a:ext uri="{0D108BD9-81ED-4DB2-BD59-A6C34878D82A}">
                    <a16:rowId xmlns:a16="http://schemas.microsoft.com/office/drawing/2014/main" val="254783311"/>
                  </a:ext>
                </a:extLst>
              </a:tr>
              <a:tr h="980968">
                <a:tc>
                  <a:txBody>
                    <a:bodyPr/>
                    <a:lstStyle/>
                    <a:p>
                      <a:r>
                        <a:rPr lang="en-US" sz="3200" b="1" dirty="0">
                          <a:latin typeface="+mj-lt"/>
                        </a:rPr>
                        <a:t>4</a:t>
                      </a:r>
                      <a:endParaRPr lang="en-IN" sz="3200" b="1" dirty="0">
                        <a:latin typeface="+mj-lt"/>
                      </a:endParaRPr>
                    </a:p>
                  </a:txBody>
                  <a:tcPr/>
                </a:tc>
                <a:tc>
                  <a:txBody>
                    <a:bodyPr/>
                    <a:lstStyle/>
                    <a:p>
                      <a:r>
                        <a:rPr lang="en-US" sz="3200" b="1" dirty="0">
                          <a:latin typeface="+mj-lt"/>
                        </a:rPr>
                        <a:t>HARMITHA .C.K</a:t>
                      </a:r>
                      <a:endParaRPr lang="en-IN" sz="3200" b="1" dirty="0">
                        <a:latin typeface="+mj-lt"/>
                      </a:endParaRPr>
                    </a:p>
                  </a:txBody>
                  <a:tcPr/>
                </a:tc>
                <a:tc>
                  <a:txBody>
                    <a:bodyPr/>
                    <a:lstStyle/>
                    <a:p>
                      <a:r>
                        <a:rPr lang="en-US" sz="3200" b="1" dirty="0">
                          <a:latin typeface="+mj-lt"/>
                        </a:rPr>
                        <a:t>22125027</a:t>
                      </a:r>
                      <a:endParaRPr lang="en-IN" sz="3200" b="1" dirty="0">
                        <a:latin typeface="+mj-lt"/>
                      </a:endParaRPr>
                    </a:p>
                  </a:txBody>
                  <a:tcPr/>
                </a:tc>
                <a:extLst>
                  <a:ext uri="{0D108BD9-81ED-4DB2-BD59-A6C34878D82A}">
                    <a16:rowId xmlns:a16="http://schemas.microsoft.com/office/drawing/2014/main" val="1771804313"/>
                  </a:ext>
                </a:extLst>
              </a:tr>
            </a:tbl>
          </a:graphicData>
        </a:graphic>
      </p:graphicFrame>
    </p:spTree>
    <p:extLst>
      <p:ext uri="{BB962C8B-B14F-4D97-AF65-F5344CB8AC3E}">
        <p14:creationId xmlns:p14="http://schemas.microsoft.com/office/powerpoint/2010/main" val="1187370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825;p58">
            <a:extLst>
              <a:ext uri="{FF2B5EF4-FFF2-40B4-BE49-F238E27FC236}">
                <a16:creationId xmlns:a16="http://schemas.microsoft.com/office/drawing/2014/main" id="{FBDDC00B-F3AB-0146-4561-2F43DB186213}"/>
              </a:ext>
            </a:extLst>
          </p:cNvPr>
          <p:cNvSpPr/>
          <p:nvPr/>
        </p:nvSpPr>
        <p:spPr>
          <a:xfrm>
            <a:off x="483671" y="1527464"/>
            <a:ext cx="1412670" cy="576695"/>
          </a:xfrm>
          <a:custGeom>
            <a:avLst/>
            <a:gdLst/>
            <a:ahLst/>
            <a:cxnLst/>
            <a:rect l="l" t="t" r="r" b="b"/>
            <a:pathLst>
              <a:path w="65726" h="26923" extrusionOk="0">
                <a:moveTo>
                  <a:pt x="1" y="0"/>
                </a:moveTo>
                <a:lnTo>
                  <a:pt x="10751" y="13477"/>
                </a:lnTo>
                <a:lnTo>
                  <a:pt x="1" y="26923"/>
                </a:lnTo>
                <a:lnTo>
                  <a:pt x="54944" y="26923"/>
                </a:lnTo>
                <a:lnTo>
                  <a:pt x="65726" y="13477"/>
                </a:lnTo>
                <a:lnTo>
                  <a:pt x="54944"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3825;p58">
            <a:extLst>
              <a:ext uri="{FF2B5EF4-FFF2-40B4-BE49-F238E27FC236}">
                <a16:creationId xmlns:a16="http://schemas.microsoft.com/office/drawing/2014/main" id="{D0537DC4-8372-177B-0AE1-A303463B1DD3}"/>
              </a:ext>
            </a:extLst>
          </p:cNvPr>
          <p:cNvSpPr/>
          <p:nvPr/>
        </p:nvSpPr>
        <p:spPr>
          <a:xfrm>
            <a:off x="513359" y="2497282"/>
            <a:ext cx="1412670" cy="576695"/>
          </a:xfrm>
          <a:custGeom>
            <a:avLst/>
            <a:gdLst/>
            <a:ahLst/>
            <a:cxnLst/>
            <a:rect l="l" t="t" r="r" b="b"/>
            <a:pathLst>
              <a:path w="65726" h="26923" extrusionOk="0">
                <a:moveTo>
                  <a:pt x="1" y="0"/>
                </a:moveTo>
                <a:lnTo>
                  <a:pt x="10751" y="13477"/>
                </a:lnTo>
                <a:lnTo>
                  <a:pt x="1" y="26923"/>
                </a:lnTo>
                <a:lnTo>
                  <a:pt x="54944" y="26923"/>
                </a:lnTo>
                <a:lnTo>
                  <a:pt x="65726" y="13477"/>
                </a:lnTo>
                <a:lnTo>
                  <a:pt x="54944"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3825;p58">
            <a:extLst>
              <a:ext uri="{FF2B5EF4-FFF2-40B4-BE49-F238E27FC236}">
                <a16:creationId xmlns:a16="http://schemas.microsoft.com/office/drawing/2014/main" id="{73D75985-42D7-E12D-436F-07C4A03D6C74}"/>
              </a:ext>
            </a:extLst>
          </p:cNvPr>
          <p:cNvSpPr/>
          <p:nvPr/>
        </p:nvSpPr>
        <p:spPr>
          <a:xfrm>
            <a:off x="483671" y="3495676"/>
            <a:ext cx="1412670" cy="576695"/>
          </a:xfrm>
          <a:custGeom>
            <a:avLst/>
            <a:gdLst/>
            <a:ahLst/>
            <a:cxnLst/>
            <a:rect l="l" t="t" r="r" b="b"/>
            <a:pathLst>
              <a:path w="65726" h="26923" extrusionOk="0">
                <a:moveTo>
                  <a:pt x="1" y="0"/>
                </a:moveTo>
                <a:lnTo>
                  <a:pt x="10751" y="13477"/>
                </a:lnTo>
                <a:lnTo>
                  <a:pt x="1" y="26923"/>
                </a:lnTo>
                <a:lnTo>
                  <a:pt x="54944" y="26923"/>
                </a:lnTo>
                <a:lnTo>
                  <a:pt x="65726" y="13477"/>
                </a:lnTo>
                <a:lnTo>
                  <a:pt x="54944"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3825;p58">
            <a:extLst>
              <a:ext uri="{FF2B5EF4-FFF2-40B4-BE49-F238E27FC236}">
                <a16:creationId xmlns:a16="http://schemas.microsoft.com/office/drawing/2014/main" id="{E29F0B78-6904-305E-845A-CE28C98F7DFF}"/>
              </a:ext>
            </a:extLst>
          </p:cNvPr>
          <p:cNvSpPr/>
          <p:nvPr/>
        </p:nvSpPr>
        <p:spPr>
          <a:xfrm>
            <a:off x="483671" y="5551343"/>
            <a:ext cx="1412670" cy="576695"/>
          </a:xfrm>
          <a:custGeom>
            <a:avLst/>
            <a:gdLst/>
            <a:ahLst/>
            <a:cxnLst/>
            <a:rect l="l" t="t" r="r" b="b"/>
            <a:pathLst>
              <a:path w="65726" h="26923" extrusionOk="0">
                <a:moveTo>
                  <a:pt x="1" y="0"/>
                </a:moveTo>
                <a:lnTo>
                  <a:pt x="10751" y="13477"/>
                </a:lnTo>
                <a:lnTo>
                  <a:pt x="1" y="26923"/>
                </a:lnTo>
                <a:lnTo>
                  <a:pt x="54944" y="26923"/>
                </a:lnTo>
                <a:lnTo>
                  <a:pt x="65726" y="13477"/>
                </a:lnTo>
                <a:lnTo>
                  <a:pt x="54944"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3825;p58">
            <a:extLst>
              <a:ext uri="{FF2B5EF4-FFF2-40B4-BE49-F238E27FC236}">
                <a16:creationId xmlns:a16="http://schemas.microsoft.com/office/drawing/2014/main" id="{D6A775D9-5DBE-BEC4-540B-DDD5FF2565FD}"/>
              </a:ext>
            </a:extLst>
          </p:cNvPr>
          <p:cNvSpPr/>
          <p:nvPr/>
        </p:nvSpPr>
        <p:spPr>
          <a:xfrm>
            <a:off x="483671" y="4494070"/>
            <a:ext cx="1412670" cy="576695"/>
          </a:xfrm>
          <a:custGeom>
            <a:avLst/>
            <a:gdLst/>
            <a:ahLst/>
            <a:cxnLst/>
            <a:rect l="l" t="t" r="r" b="b"/>
            <a:pathLst>
              <a:path w="65726" h="26923" extrusionOk="0">
                <a:moveTo>
                  <a:pt x="1" y="0"/>
                </a:moveTo>
                <a:lnTo>
                  <a:pt x="10751" y="13477"/>
                </a:lnTo>
                <a:lnTo>
                  <a:pt x="1" y="26923"/>
                </a:lnTo>
                <a:lnTo>
                  <a:pt x="54944" y="26923"/>
                </a:lnTo>
                <a:lnTo>
                  <a:pt x="65726" y="13477"/>
                </a:lnTo>
                <a:lnTo>
                  <a:pt x="54944"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7008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013CDA5-08FB-521E-0688-2B322932566E}"/>
              </a:ext>
            </a:extLst>
          </p:cNvPr>
          <p:cNvSpPr txBox="1"/>
          <p:nvPr/>
        </p:nvSpPr>
        <p:spPr>
          <a:xfrm>
            <a:off x="387091" y="256971"/>
            <a:ext cx="11296436" cy="4278094"/>
          </a:xfrm>
          <a:prstGeom prst="rect">
            <a:avLst/>
          </a:prstGeom>
          <a:noFill/>
        </p:spPr>
        <p:txBody>
          <a:bodyPr wrap="square">
            <a:spAutoFit/>
          </a:bodyPr>
          <a:lstStyle/>
          <a:p>
            <a:pPr algn="ctr"/>
            <a:r>
              <a:rPr lang="en-US" sz="3600" b="1" i="0" cap="all" dirty="0">
                <a:solidFill>
                  <a:srgbClr val="383E47"/>
                </a:solidFill>
                <a:effectLst/>
              </a:rPr>
              <a:t>HOW LINE FOLLOWER ROBOT WORKS?</a:t>
            </a:r>
          </a:p>
          <a:p>
            <a:pPr algn="l"/>
            <a:endParaRPr lang="en-US" sz="2800" b="1" i="0" cap="all" dirty="0">
              <a:solidFill>
                <a:srgbClr val="383E47"/>
              </a:solidFill>
              <a:effectLst/>
            </a:endParaRPr>
          </a:p>
          <a:p>
            <a:pPr algn="just"/>
            <a:r>
              <a:rPr lang="en-US" sz="2000" b="0" i="0" dirty="0">
                <a:solidFill>
                  <a:srgbClr val="383E47"/>
                </a:solidFill>
                <a:effectLst/>
              </a:rPr>
              <a:t>The concept of the line follower robot is related to the transmitting and receiving of light. The white </a:t>
            </a:r>
            <a:r>
              <a:rPr lang="en-US" sz="2000" b="0" i="0" dirty="0" err="1">
                <a:solidFill>
                  <a:srgbClr val="383E47"/>
                </a:solidFill>
                <a:effectLst/>
              </a:rPr>
              <a:t>colour</a:t>
            </a:r>
            <a:r>
              <a:rPr lang="en-US" sz="2000" b="0" i="0" dirty="0">
                <a:solidFill>
                  <a:srgbClr val="383E47"/>
                </a:solidFill>
                <a:effectLst/>
              </a:rPr>
              <a:t> reflects all the light that falls on it whereas the black </a:t>
            </a:r>
            <a:r>
              <a:rPr lang="en-US" sz="2000" b="0" i="0" dirty="0" err="1">
                <a:solidFill>
                  <a:srgbClr val="383E47"/>
                </a:solidFill>
                <a:effectLst/>
              </a:rPr>
              <a:t>colour</a:t>
            </a:r>
            <a:r>
              <a:rPr lang="en-US" sz="2000" b="0" i="0" dirty="0">
                <a:solidFill>
                  <a:srgbClr val="383E47"/>
                </a:solidFill>
                <a:effectLst/>
              </a:rPr>
              <a:t> absorbs all the light.</a:t>
            </a:r>
          </a:p>
          <a:p>
            <a:pPr algn="just"/>
            <a:r>
              <a:rPr lang="en-US" sz="2000" b="0" i="0" dirty="0">
                <a:solidFill>
                  <a:srgbClr val="383E47"/>
                </a:solidFill>
                <a:effectLst/>
              </a:rPr>
              <a:t>In this line follower robot, we have used IR transmitters and receivers ( also known as photodiodes). When IR light falls on a white surface, it gets reflected back towards the IR receiver, generating some voltage changes that are analyzed by the When IR light falls on a black surface, it gets absorbed by the black surface, and no rays are reflected back thus, the IR receiver doesn’t receive any rays.</a:t>
            </a:r>
          </a:p>
          <a:p>
            <a:pPr algn="just"/>
            <a:r>
              <a:rPr lang="en-US" sz="2000" b="0" i="0" dirty="0">
                <a:solidFill>
                  <a:srgbClr val="383E47"/>
                </a:solidFill>
                <a:effectLst/>
              </a:rPr>
              <a:t>In this project, when the IR sensor senses a white surface, </a:t>
            </a:r>
            <a:r>
              <a:rPr lang="en-US" sz="2000" dirty="0">
                <a:solidFill>
                  <a:srgbClr val="383E47"/>
                </a:solidFill>
              </a:rPr>
              <a:t>motor driver</a:t>
            </a:r>
          </a:p>
          <a:p>
            <a:pPr algn="just"/>
            <a:r>
              <a:rPr lang="en-US" sz="2000" b="0" i="0" dirty="0">
                <a:solidFill>
                  <a:srgbClr val="383E47"/>
                </a:solidFill>
                <a:effectLst/>
              </a:rPr>
              <a:t>gets HIGH as input, and when it senses a black line, an </a:t>
            </a:r>
            <a:r>
              <a:rPr lang="en-US" sz="2000" dirty="0">
                <a:solidFill>
                  <a:srgbClr val="383E47"/>
                </a:solidFill>
              </a:rPr>
              <a:t>motor diver </a:t>
            </a:r>
            <a:r>
              <a:rPr lang="en-US" sz="2000" b="0" i="0" dirty="0">
                <a:solidFill>
                  <a:srgbClr val="383E47"/>
                </a:solidFill>
                <a:effectLst/>
              </a:rPr>
              <a:t>gets LOW as input. Based on these inputs, an </a:t>
            </a:r>
            <a:r>
              <a:rPr lang="en-US" sz="2000" dirty="0">
                <a:solidFill>
                  <a:srgbClr val="383E47"/>
                </a:solidFill>
              </a:rPr>
              <a:t>motor </a:t>
            </a:r>
            <a:r>
              <a:rPr lang="en-US" sz="2000" dirty="0" err="1">
                <a:solidFill>
                  <a:srgbClr val="383E47"/>
                </a:solidFill>
              </a:rPr>
              <a:t>driver</a:t>
            </a:r>
            <a:r>
              <a:rPr lang="en-US" sz="2000" b="0" i="0" dirty="0" err="1">
                <a:solidFill>
                  <a:srgbClr val="383E47"/>
                </a:solidFill>
                <a:effectLst/>
              </a:rPr>
              <a:t>provides</a:t>
            </a:r>
            <a:r>
              <a:rPr lang="en-US" sz="2000" b="0" i="0" dirty="0">
                <a:solidFill>
                  <a:srgbClr val="383E47"/>
                </a:solidFill>
                <a:effectLst/>
              </a:rPr>
              <a:t> the proper output to control the line follower.</a:t>
            </a:r>
            <a:r>
              <a:rPr lang="en-US" sz="2000" b="1" i="0" dirty="0">
                <a:solidFill>
                  <a:srgbClr val="383E47"/>
                </a:solidFill>
                <a:effectLst/>
              </a:rPr>
              <a:t> </a:t>
            </a:r>
            <a:endParaRPr lang="en-US" sz="2000" b="0" i="0" dirty="0">
              <a:solidFill>
                <a:srgbClr val="383E47"/>
              </a:solidFill>
              <a:effectLst/>
            </a:endParaRPr>
          </a:p>
          <a:p>
            <a:pPr algn="l"/>
            <a:r>
              <a:rPr lang="en-US" sz="2800" b="1" i="0" dirty="0">
                <a:solidFill>
                  <a:srgbClr val="383E47"/>
                </a:solidFill>
                <a:effectLst/>
              </a:rPr>
              <a:t> </a:t>
            </a:r>
            <a:endParaRPr lang="en-US" sz="2800" b="0" i="0" dirty="0">
              <a:solidFill>
                <a:srgbClr val="383E47"/>
              </a:solidFill>
              <a:effectLst/>
            </a:endParaRPr>
          </a:p>
        </p:txBody>
      </p:sp>
    </p:spTree>
    <p:extLst>
      <p:ext uri="{BB962C8B-B14F-4D97-AF65-F5344CB8AC3E}">
        <p14:creationId xmlns:p14="http://schemas.microsoft.com/office/powerpoint/2010/main" val="2895694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0A3529-99F8-5857-04AD-0D843AD3B964}"/>
              </a:ext>
            </a:extLst>
          </p:cNvPr>
          <p:cNvPicPr>
            <a:picLocks noChangeAspect="1"/>
          </p:cNvPicPr>
          <p:nvPr/>
        </p:nvPicPr>
        <p:blipFill>
          <a:blip r:embed="rId2"/>
          <a:stretch>
            <a:fillRect/>
          </a:stretch>
        </p:blipFill>
        <p:spPr>
          <a:xfrm>
            <a:off x="0" y="-93518"/>
            <a:ext cx="12192000" cy="6927907"/>
          </a:xfrm>
          <a:prstGeom prst="rect">
            <a:avLst/>
          </a:prstGeom>
        </p:spPr>
      </p:pic>
    </p:spTree>
    <p:extLst>
      <p:ext uri="{BB962C8B-B14F-4D97-AF65-F5344CB8AC3E}">
        <p14:creationId xmlns:p14="http://schemas.microsoft.com/office/powerpoint/2010/main" val="25794548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D33C92-EB78-AC9B-83C3-8AAD878E0D2B}"/>
              </a:ext>
            </a:extLst>
          </p:cNvPr>
          <p:cNvPicPr>
            <a:picLocks noChangeAspect="1"/>
          </p:cNvPicPr>
          <p:nvPr/>
        </p:nvPicPr>
        <p:blipFill>
          <a:blip r:embed="rId2"/>
          <a:stretch>
            <a:fillRect/>
          </a:stretch>
        </p:blipFill>
        <p:spPr>
          <a:xfrm>
            <a:off x="24939" y="0"/>
            <a:ext cx="12142121" cy="6858000"/>
          </a:xfrm>
          <a:prstGeom prst="rect">
            <a:avLst/>
          </a:prstGeom>
        </p:spPr>
      </p:pic>
    </p:spTree>
    <p:extLst>
      <p:ext uri="{BB962C8B-B14F-4D97-AF65-F5344CB8AC3E}">
        <p14:creationId xmlns:p14="http://schemas.microsoft.com/office/powerpoint/2010/main" val="3462899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DAC7BA-D1F1-7FED-1D98-994271DA1826}"/>
              </a:ext>
            </a:extLst>
          </p:cNvPr>
          <p:cNvSpPr txBox="1"/>
          <p:nvPr/>
        </p:nvSpPr>
        <p:spPr>
          <a:xfrm>
            <a:off x="375006" y="287676"/>
            <a:ext cx="11152598" cy="6001643"/>
          </a:xfrm>
          <a:prstGeom prst="rect">
            <a:avLst/>
          </a:prstGeom>
          <a:noFill/>
        </p:spPr>
        <p:txBody>
          <a:bodyPr wrap="square" rtlCol="0">
            <a:spAutoFit/>
          </a:bodyPr>
          <a:lstStyle/>
          <a:p>
            <a:r>
              <a:rPr lang="en-IN" sz="6000" dirty="0"/>
              <a:t>COMPONENTS USED :</a:t>
            </a:r>
          </a:p>
          <a:p>
            <a:pPr marL="685800" indent="-685800">
              <a:buFont typeface="Arial" panose="020B0604020202020204" pitchFamily="34" charset="0"/>
              <a:buChar char="•"/>
            </a:pPr>
            <a:r>
              <a:rPr lang="en-IN" sz="5400" dirty="0"/>
              <a:t>L289N MOTOR DRIVER </a:t>
            </a:r>
          </a:p>
          <a:p>
            <a:pPr marL="685800" indent="-685800">
              <a:buFont typeface="Arial" panose="020B0604020202020204" pitchFamily="34" charset="0"/>
              <a:buChar char="•"/>
            </a:pPr>
            <a:r>
              <a:rPr lang="en-IN" sz="5400" dirty="0"/>
              <a:t>2 MOTOR GEARS</a:t>
            </a:r>
          </a:p>
          <a:p>
            <a:pPr marL="685800" indent="-685800">
              <a:buFont typeface="Arial" panose="020B0604020202020204" pitchFamily="34" charset="0"/>
              <a:buChar char="•"/>
            </a:pPr>
            <a:r>
              <a:rPr lang="en-IN" sz="5400" dirty="0"/>
              <a:t>2 IR SENSOR</a:t>
            </a:r>
          </a:p>
          <a:p>
            <a:pPr marL="685800" indent="-685800">
              <a:buFont typeface="Arial" panose="020B0604020202020204" pitchFamily="34" charset="0"/>
              <a:buChar char="•"/>
            </a:pPr>
            <a:r>
              <a:rPr lang="en-IN" sz="5400" dirty="0"/>
              <a:t>JUMPERWIRES</a:t>
            </a:r>
          </a:p>
          <a:p>
            <a:pPr marL="685800" indent="-685800">
              <a:buFont typeface="Arial" panose="020B0604020202020204" pitchFamily="34" charset="0"/>
              <a:buChar char="•"/>
            </a:pPr>
            <a:r>
              <a:rPr lang="en-IN" sz="5400" dirty="0"/>
              <a:t>BATTERY AND BATTERYHOLDER</a:t>
            </a:r>
          </a:p>
          <a:p>
            <a:pPr marL="685800" indent="-685800">
              <a:buFont typeface="Arial" panose="020B0604020202020204" pitchFamily="34" charset="0"/>
              <a:buChar char="•"/>
            </a:pPr>
            <a:endParaRPr lang="en-IN" sz="5400" dirty="0"/>
          </a:p>
        </p:txBody>
      </p:sp>
    </p:spTree>
    <p:extLst>
      <p:ext uri="{BB962C8B-B14F-4D97-AF65-F5344CB8AC3E}">
        <p14:creationId xmlns:p14="http://schemas.microsoft.com/office/powerpoint/2010/main" val="230020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DB497E-53FA-D329-1980-B1B0AECD2C7B}"/>
              </a:ext>
            </a:extLst>
          </p:cNvPr>
          <p:cNvPicPr>
            <a:picLocks noChangeAspect="1"/>
          </p:cNvPicPr>
          <p:nvPr/>
        </p:nvPicPr>
        <p:blipFill>
          <a:blip r:embed="rId2"/>
          <a:stretch>
            <a:fillRect/>
          </a:stretch>
        </p:blipFill>
        <p:spPr>
          <a:xfrm>
            <a:off x="428065" y="650936"/>
            <a:ext cx="6096045" cy="4724435"/>
          </a:xfrm>
          <a:prstGeom prst="rect">
            <a:avLst/>
          </a:prstGeom>
        </p:spPr>
      </p:pic>
      <p:graphicFrame>
        <p:nvGraphicFramePr>
          <p:cNvPr id="5" name="Table 4">
            <a:extLst>
              <a:ext uri="{FF2B5EF4-FFF2-40B4-BE49-F238E27FC236}">
                <a16:creationId xmlns:a16="http://schemas.microsoft.com/office/drawing/2014/main" id="{4D221DDA-32A6-6B5B-74E1-DF51A14F8F78}"/>
              </a:ext>
            </a:extLst>
          </p:cNvPr>
          <p:cNvGraphicFramePr>
            <a:graphicFrameLocks noGrp="1"/>
          </p:cNvGraphicFramePr>
          <p:nvPr>
            <p:extLst>
              <p:ext uri="{D42A27DB-BD31-4B8C-83A1-F6EECF244321}">
                <p14:modId xmlns:p14="http://schemas.microsoft.com/office/powerpoint/2010/main" val="206860419"/>
              </p:ext>
            </p:extLst>
          </p:nvPr>
        </p:nvGraphicFramePr>
        <p:xfrm>
          <a:off x="5885335" y="570215"/>
          <a:ext cx="5811794" cy="5111909"/>
        </p:xfrm>
        <a:graphic>
          <a:graphicData uri="http://schemas.openxmlformats.org/drawingml/2006/table">
            <a:tbl>
              <a:tblPr/>
              <a:tblGrid>
                <a:gridCol w="2905897">
                  <a:extLst>
                    <a:ext uri="{9D8B030D-6E8A-4147-A177-3AD203B41FA5}">
                      <a16:colId xmlns:a16="http://schemas.microsoft.com/office/drawing/2014/main" val="3259594058"/>
                    </a:ext>
                  </a:extLst>
                </a:gridCol>
                <a:gridCol w="2905897">
                  <a:extLst>
                    <a:ext uri="{9D8B030D-6E8A-4147-A177-3AD203B41FA5}">
                      <a16:colId xmlns:a16="http://schemas.microsoft.com/office/drawing/2014/main" val="2950480931"/>
                    </a:ext>
                  </a:extLst>
                </a:gridCol>
              </a:tblGrid>
              <a:tr h="1049712">
                <a:tc>
                  <a:txBody>
                    <a:bodyPr/>
                    <a:lstStyle/>
                    <a:p>
                      <a:pPr algn="l"/>
                      <a:r>
                        <a:rPr lang="en-IN">
                          <a:effectLst/>
                        </a:rPr>
                        <a:t>Motor controller</a:t>
                      </a:r>
                    </a:p>
                  </a:txBody>
                  <a:tcPr marL="66675" marR="66675" marT="47625" marB="47625" anchor="ctr">
                    <a:lnL w="4763" cap="flat" cmpd="sng" algn="ctr">
                      <a:solidFill>
                        <a:srgbClr val="E8E9EB"/>
                      </a:solidFill>
                      <a:prstDash val="solid"/>
                      <a:round/>
                      <a:headEnd type="none" w="med" len="med"/>
                      <a:tailEnd type="none" w="med" len="med"/>
                    </a:lnL>
                    <a:lnR w="4763" cap="flat" cmpd="sng" algn="ctr">
                      <a:solidFill>
                        <a:srgbClr val="E8E9EB"/>
                      </a:solidFill>
                      <a:prstDash val="solid"/>
                      <a:round/>
                      <a:headEnd type="none" w="med" len="med"/>
                      <a:tailEnd type="none" w="med" len="med"/>
                    </a:lnR>
                    <a:lnT w="4763" cap="flat" cmpd="sng" algn="ctr">
                      <a:solidFill>
                        <a:srgbClr val="E8E9EB"/>
                      </a:solidFill>
                      <a:prstDash val="solid"/>
                      <a:round/>
                      <a:headEnd type="none" w="med" len="med"/>
                      <a:tailEnd type="none" w="med" len="med"/>
                    </a:lnT>
                    <a:lnB w="4763" cap="flat" cmpd="sng" algn="ctr">
                      <a:solidFill>
                        <a:srgbClr val="E8E9EB"/>
                      </a:solidFill>
                      <a:prstDash val="solid"/>
                      <a:round/>
                      <a:headEnd type="none" w="med" len="med"/>
                      <a:tailEnd type="none" w="med" len="med"/>
                    </a:lnB>
                    <a:solidFill>
                      <a:srgbClr val="FFFFFF"/>
                    </a:solidFill>
                  </a:tcPr>
                </a:tc>
                <a:tc>
                  <a:txBody>
                    <a:bodyPr/>
                    <a:lstStyle/>
                    <a:p>
                      <a:pPr algn="l"/>
                      <a:r>
                        <a:rPr lang="en-IN">
                          <a:effectLst/>
                        </a:rPr>
                        <a:t>L298N, drives 2 DC motors</a:t>
                      </a:r>
                    </a:p>
                  </a:txBody>
                  <a:tcPr marL="66675" marR="66675" marT="47625" marB="47625" anchor="ctr">
                    <a:lnL w="4763" cap="flat" cmpd="sng" algn="ctr">
                      <a:solidFill>
                        <a:srgbClr val="E8E9EB"/>
                      </a:solidFill>
                      <a:prstDash val="solid"/>
                      <a:round/>
                      <a:headEnd type="none" w="med" len="med"/>
                      <a:tailEnd type="none" w="med" len="med"/>
                    </a:lnL>
                    <a:lnR w="4763" cap="flat" cmpd="sng" algn="ctr">
                      <a:solidFill>
                        <a:srgbClr val="E8E9EB"/>
                      </a:solidFill>
                      <a:prstDash val="solid"/>
                      <a:round/>
                      <a:headEnd type="none" w="med" len="med"/>
                      <a:tailEnd type="none" w="med" len="med"/>
                    </a:lnR>
                    <a:lnT w="4763" cap="flat" cmpd="sng" algn="ctr">
                      <a:solidFill>
                        <a:srgbClr val="E8E9EB"/>
                      </a:solidFill>
                      <a:prstDash val="solid"/>
                      <a:round/>
                      <a:headEnd type="none" w="med" len="med"/>
                      <a:tailEnd type="none" w="med" len="med"/>
                    </a:lnT>
                    <a:lnB w="4763" cap="flat" cmpd="sng" algn="ctr">
                      <a:solidFill>
                        <a:srgbClr val="E8E9EB"/>
                      </a:solidFill>
                      <a:prstDash val="solid"/>
                      <a:round/>
                      <a:headEnd type="none" w="med" len="med"/>
                      <a:tailEnd type="none" w="med" len="med"/>
                    </a:lnB>
                    <a:solidFill>
                      <a:srgbClr val="FFFFFF"/>
                    </a:solidFill>
                  </a:tcPr>
                </a:tc>
                <a:extLst>
                  <a:ext uri="{0D108BD9-81ED-4DB2-BD59-A6C34878D82A}">
                    <a16:rowId xmlns:a16="http://schemas.microsoft.com/office/drawing/2014/main" val="842402931"/>
                  </a:ext>
                </a:extLst>
              </a:tr>
              <a:tr h="602497">
                <a:tc>
                  <a:txBody>
                    <a:bodyPr/>
                    <a:lstStyle/>
                    <a:p>
                      <a:pPr algn="l"/>
                      <a:r>
                        <a:rPr lang="en-IN" dirty="0">
                          <a:effectLst/>
                        </a:rPr>
                        <a:t>Operating Voltage</a:t>
                      </a:r>
                    </a:p>
                  </a:txBody>
                  <a:tcPr marL="66675" marR="66675" marT="47625" marB="47625" anchor="ctr">
                    <a:lnL w="4763" cap="flat" cmpd="sng" algn="ctr">
                      <a:solidFill>
                        <a:srgbClr val="E8E9EB"/>
                      </a:solidFill>
                      <a:prstDash val="solid"/>
                      <a:round/>
                      <a:headEnd type="none" w="med" len="med"/>
                      <a:tailEnd type="none" w="med" len="med"/>
                    </a:lnL>
                    <a:lnR w="4763" cap="flat" cmpd="sng" algn="ctr">
                      <a:solidFill>
                        <a:srgbClr val="E8E9EB"/>
                      </a:solidFill>
                      <a:prstDash val="solid"/>
                      <a:round/>
                      <a:headEnd type="none" w="med" len="med"/>
                      <a:tailEnd type="none" w="med" len="med"/>
                    </a:lnR>
                    <a:lnT w="4763" cap="flat" cmpd="sng" algn="ctr">
                      <a:solidFill>
                        <a:srgbClr val="E8E9EB"/>
                      </a:solidFill>
                      <a:prstDash val="solid"/>
                      <a:round/>
                      <a:headEnd type="none" w="med" len="med"/>
                      <a:tailEnd type="none" w="med" len="med"/>
                    </a:lnT>
                    <a:lnB w="4763" cap="flat" cmpd="sng" algn="ctr">
                      <a:solidFill>
                        <a:srgbClr val="E8E9EB"/>
                      </a:solidFill>
                      <a:prstDash val="solid"/>
                      <a:round/>
                      <a:headEnd type="none" w="med" len="med"/>
                      <a:tailEnd type="none" w="med" len="med"/>
                    </a:lnB>
                    <a:solidFill>
                      <a:srgbClr val="FFFFFF"/>
                    </a:solidFill>
                  </a:tcPr>
                </a:tc>
                <a:tc>
                  <a:txBody>
                    <a:bodyPr/>
                    <a:lstStyle/>
                    <a:p>
                      <a:pPr algn="l"/>
                      <a:r>
                        <a:rPr lang="en-IN">
                          <a:effectLst/>
                        </a:rPr>
                        <a:t>5- 35V</a:t>
                      </a:r>
                    </a:p>
                  </a:txBody>
                  <a:tcPr marL="66675" marR="66675" marT="47625" marB="47625" anchor="ctr">
                    <a:lnL w="4763" cap="flat" cmpd="sng" algn="ctr">
                      <a:solidFill>
                        <a:srgbClr val="E8E9EB"/>
                      </a:solidFill>
                      <a:prstDash val="solid"/>
                      <a:round/>
                      <a:headEnd type="none" w="med" len="med"/>
                      <a:tailEnd type="none" w="med" len="med"/>
                    </a:lnL>
                    <a:lnR w="4763" cap="flat" cmpd="sng" algn="ctr">
                      <a:solidFill>
                        <a:srgbClr val="E8E9EB"/>
                      </a:solidFill>
                      <a:prstDash val="solid"/>
                      <a:round/>
                      <a:headEnd type="none" w="med" len="med"/>
                      <a:tailEnd type="none" w="med" len="med"/>
                    </a:lnR>
                    <a:lnT w="4763" cap="flat" cmpd="sng" algn="ctr">
                      <a:solidFill>
                        <a:srgbClr val="E8E9EB"/>
                      </a:solidFill>
                      <a:prstDash val="solid"/>
                      <a:round/>
                      <a:headEnd type="none" w="med" len="med"/>
                      <a:tailEnd type="none" w="med" len="med"/>
                    </a:lnT>
                    <a:lnB w="4763" cap="flat" cmpd="sng" algn="ctr">
                      <a:solidFill>
                        <a:srgbClr val="E8E9EB"/>
                      </a:solidFill>
                      <a:prstDash val="solid"/>
                      <a:round/>
                      <a:headEnd type="none" w="med" len="med"/>
                      <a:tailEnd type="none" w="med" len="med"/>
                    </a:lnB>
                    <a:solidFill>
                      <a:srgbClr val="FFFFFF"/>
                    </a:solidFill>
                  </a:tcPr>
                </a:tc>
                <a:extLst>
                  <a:ext uri="{0D108BD9-81ED-4DB2-BD59-A6C34878D82A}">
                    <a16:rowId xmlns:a16="http://schemas.microsoft.com/office/drawing/2014/main" val="379186045"/>
                  </a:ext>
                </a:extLst>
              </a:tr>
              <a:tr h="602497">
                <a:tc>
                  <a:txBody>
                    <a:bodyPr/>
                    <a:lstStyle/>
                    <a:p>
                      <a:pPr algn="l"/>
                      <a:r>
                        <a:rPr lang="en-IN">
                          <a:effectLst/>
                        </a:rPr>
                        <a:t>Logic voltage</a:t>
                      </a:r>
                    </a:p>
                  </a:txBody>
                  <a:tcPr marL="66675" marR="66675" marT="47625" marB="47625" anchor="ctr">
                    <a:lnL w="4763" cap="flat" cmpd="sng" algn="ctr">
                      <a:solidFill>
                        <a:srgbClr val="E8E9EB"/>
                      </a:solidFill>
                      <a:prstDash val="solid"/>
                      <a:round/>
                      <a:headEnd type="none" w="med" len="med"/>
                      <a:tailEnd type="none" w="med" len="med"/>
                    </a:lnL>
                    <a:lnR w="4763" cap="flat" cmpd="sng" algn="ctr">
                      <a:solidFill>
                        <a:srgbClr val="E8E9EB"/>
                      </a:solidFill>
                      <a:prstDash val="solid"/>
                      <a:round/>
                      <a:headEnd type="none" w="med" len="med"/>
                      <a:tailEnd type="none" w="med" len="med"/>
                    </a:lnR>
                    <a:lnT w="4763" cap="flat" cmpd="sng" algn="ctr">
                      <a:solidFill>
                        <a:srgbClr val="E8E9EB"/>
                      </a:solidFill>
                      <a:prstDash val="solid"/>
                      <a:round/>
                      <a:headEnd type="none" w="med" len="med"/>
                      <a:tailEnd type="none" w="med" len="med"/>
                    </a:lnT>
                    <a:lnB w="4763" cap="flat" cmpd="sng" algn="ctr">
                      <a:solidFill>
                        <a:srgbClr val="E8E9EB"/>
                      </a:solidFill>
                      <a:prstDash val="solid"/>
                      <a:round/>
                      <a:headEnd type="none" w="med" len="med"/>
                      <a:tailEnd type="none" w="med" len="med"/>
                    </a:lnB>
                    <a:solidFill>
                      <a:srgbClr val="FFFFFF"/>
                    </a:solidFill>
                  </a:tcPr>
                </a:tc>
                <a:tc>
                  <a:txBody>
                    <a:bodyPr/>
                    <a:lstStyle/>
                    <a:p>
                      <a:pPr algn="l"/>
                      <a:r>
                        <a:rPr lang="en-IN" dirty="0">
                          <a:effectLst/>
                        </a:rPr>
                        <a:t>4.5 – 7 V </a:t>
                      </a:r>
                    </a:p>
                  </a:txBody>
                  <a:tcPr marL="66675" marR="66675" marT="47625" marB="47625" anchor="ctr">
                    <a:lnL w="4763" cap="flat" cmpd="sng" algn="ctr">
                      <a:solidFill>
                        <a:srgbClr val="E8E9EB"/>
                      </a:solidFill>
                      <a:prstDash val="solid"/>
                      <a:round/>
                      <a:headEnd type="none" w="med" len="med"/>
                      <a:tailEnd type="none" w="med" len="med"/>
                    </a:lnL>
                    <a:lnR w="4763" cap="flat" cmpd="sng" algn="ctr">
                      <a:solidFill>
                        <a:srgbClr val="E8E9EB"/>
                      </a:solidFill>
                      <a:prstDash val="solid"/>
                      <a:round/>
                      <a:headEnd type="none" w="med" len="med"/>
                      <a:tailEnd type="none" w="med" len="med"/>
                    </a:lnR>
                    <a:lnT w="4763" cap="flat" cmpd="sng" algn="ctr">
                      <a:solidFill>
                        <a:srgbClr val="E8E9EB"/>
                      </a:solidFill>
                      <a:prstDash val="solid"/>
                      <a:round/>
                      <a:headEnd type="none" w="med" len="med"/>
                      <a:tailEnd type="none" w="med" len="med"/>
                    </a:lnT>
                    <a:lnB w="4763" cap="flat" cmpd="sng" algn="ctr">
                      <a:solidFill>
                        <a:srgbClr val="E8E9EB"/>
                      </a:solidFill>
                      <a:prstDash val="solid"/>
                      <a:round/>
                      <a:headEnd type="none" w="med" len="med"/>
                      <a:tailEnd type="none" w="med" len="med"/>
                    </a:lnB>
                    <a:solidFill>
                      <a:srgbClr val="FFFFFF"/>
                    </a:solidFill>
                  </a:tcPr>
                </a:tc>
                <a:extLst>
                  <a:ext uri="{0D108BD9-81ED-4DB2-BD59-A6C34878D82A}">
                    <a16:rowId xmlns:a16="http://schemas.microsoft.com/office/drawing/2014/main" val="524695619"/>
                  </a:ext>
                </a:extLst>
              </a:tr>
              <a:tr h="602497">
                <a:tc>
                  <a:txBody>
                    <a:bodyPr/>
                    <a:lstStyle/>
                    <a:p>
                      <a:pPr algn="l"/>
                      <a:r>
                        <a:rPr lang="en-IN" dirty="0">
                          <a:effectLst/>
                        </a:rPr>
                        <a:t>Max current</a:t>
                      </a:r>
                    </a:p>
                  </a:txBody>
                  <a:tcPr marL="66675" marR="66675" marT="47625" marB="47625" anchor="ctr">
                    <a:lnL w="4763" cap="flat" cmpd="sng" algn="ctr">
                      <a:solidFill>
                        <a:srgbClr val="E8E9EB"/>
                      </a:solidFill>
                      <a:prstDash val="solid"/>
                      <a:round/>
                      <a:headEnd type="none" w="med" len="med"/>
                      <a:tailEnd type="none" w="med" len="med"/>
                    </a:lnL>
                    <a:lnR w="4763" cap="flat" cmpd="sng" algn="ctr">
                      <a:solidFill>
                        <a:srgbClr val="E8E9EB"/>
                      </a:solidFill>
                      <a:prstDash val="solid"/>
                      <a:round/>
                      <a:headEnd type="none" w="med" len="med"/>
                      <a:tailEnd type="none" w="med" len="med"/>
                    </a:lnR>
                    <a:lnT w="4763" cap="flat" cmpd="sng" algn="ctr">
                      <a:solidFill>
                        <a:srgbClr val="E8E9EB"/>
                      </a:solidFill>
                      <a:prstDash val="solid"/>
                      <a:round/>
                      <a:headEnd type="none" w="med" len="med"/>
                      <a:tailEnd type="none" w="med" len="med"/>
                    </a:lnT>
                    <a:lnB w="4763" cap="flat" cmpd="sng" algn="ctr">
                      <a:solidFill>
                        <a:srgbClr val="E8E9EB"/>
                      </a:solidFill>
                      <a:prstDash val="solid"/>
                      <a:round/>
                      <a:headEnd type="none" w="med" len="med"/>
                      <a:tailEnd type="none" w="med" len="med"/>
                    </a:lnB>
                    <a:solidFill>
                      <a:srgbClr val="FFFFFF"/>
                    </a:solidFill>
                  </a:tcPr>
                </a:tc>
                <a:tc>
                  <a:txBody>
                    <a:bodyPr/>
                    <a:lstStyle/>
                    <a:p>
                      <a:pPr algn="l"/>
                      <a:r>
                        <a:rPr lang="en-IN" dirty="0">
                          <a:effectLst/>
                        </a:rPr>
                        <a:t>2A per channel</a:t>
                      </a:r>
                    </a:p>
                  </a:txBody>
                  <a:tcPr marL="66675" marR="66675" marT="47625" marB="47625" anchor="ctr">
                    <a:lnL w="4763" cap="flat" cmpd="sng" algn="ctr">
                      <a:solidFill>
                        <a:srgbClr val="E8E9EB"/>
                      </a:solidFill>
                      <a:prstDash val="solid"/>
                      <a:round/>
                      <a:headEnd type="none" w="med" len="med"/>
                      <a:tailEnd type="none" w="med" len="med"/>
                    </a:lnL>
                    <a:lnR w="4763" cap="flat" cmpd="sng" algn="ctr">
                      <a:solidFill>
                        <a:srgbClr val="E8E9EB"/>
                      </a:solidFill>
                      <a:prstDash val="solid"/>
                      <a:round/>
                      <a:headEnd type="none" w="med" len="med"/>
                      <a:tailEnd type="none" w="med" len="med"/>
                    </a:lnR>
                    <a:lnT w="4763" cap="flat" cmpd="sng" algn="ctr">
                      <a:solidFill>
                        <a:srgbClr val="E8E9EB"/>
                      </a:solidFill>
                      <a:prstDash val="solid"/>
                      <a:round/>
                      <a:headEnd type="none" w="med" len="med"/>
                      <a:tailEnd type="none" w="med" len="med"/>
                    </a:lnT>
                    <a:lnB w="4763" cap="flat" cmpd="sng" algn="ctr">
                      <a:solidFill>
                        <a:srgbClr val="E8E9EB"/>
                      </a:solidFill>
                      <a:prstDash val="solid"/>
                      <a:round/>
                      <a:headEnd type="none" w="med" len="med"/>
                      <a:tailEnd type="none" w="med" len="med"/>
                    </a:lnB>
                    <a:solidFill>
                      <a:srgbClr val="FFFFFF"/>
                    </a:solidFill>
                  </a:tcPr>
                </a:tc>
                <a:extLst>
                  <a:ext uri="{0D108BD9-81ED-4DB2-BD59-A6C34878D82A}">
                    <a16:rowId xmlns:a16="http://schemas.microsoft.com/office/drawing/2014/main" val="3398824445"/>
                  </a:ext>
                </a:extLst>
              </a:tr>
              <a:tr h="602497">
                <a:tc>
                  <a:txBody>
                    <a:bodyPr/>
                    <a:lstStyle/>
                    <a:p>
                      <a:pPr algn="l"/>
                      <a:r>
                        <a:rPr lang="en-IN">
                          <a:effectLst/>
                        </a:rPr>
                        <a:t>Voltage Regulator</a:t>
                      </a:r>
                    </a:p>
                  </a:txBody>
                  <a:tcPr marL="66675" marR="66675" marT="47625" marB="47625" anchor="ctr">
                    <a:lnL w="4763" cap="flat" cmpd="sng" algn="ctr">
                      <a:solidFill>
                        <a:srgbClr val="E8E9EB"/>
                      </a:solidFill>
                      <a:prstDash val="solid"/>
                      <a:round/>
                      <a:headEnd type="none" w="med" len="med"/>
                      <a:tailEnd type="none" w="med" len="med"/>
                    </a:lnL>
                    <a:lnR w="4763" cap="flat" cmpd="sng" algn="ctr">
                      <a:solidFill>
                        <a:srgbClr val="E8E9EB"/>
                      </a:solidFill>
                      <a:prstDash val="solid"/>
                      <a:round/>
                      <a:headEnd type="none" w="med" len="med"/>
                      <a:tailEnd type="none" w="med" len="med"/>
                    </a:lnR>
                    <a:lnT w="4763" cap="flat" cmpd="sng" algn="ctr">
                      <a:solidFill>
                        <a:srgbClr val="E8E9EB"/>
                      </a:solidFill>
                      <a:prstDash val="solid"/>
                      <a:round/>
                      <a:headEnd type="none" w="med" len="med"/>
                      <a:tailEnd type="none" w="med" len="med"/>
                    </a:lnT>
                    <a:lnB w="4763" cap="flat" cmpd="sng" algn="ctr">
                      <a:solidFill>
                        <a:srgbClr val="E8E9EB"/>
                      </a:solidFill>
                      <a:prstDash val="solid"/>
                      <a:round/>
                      <a:headEnd type="none" w="med" len="med"/>
                      <a:tailEnd type="none" w="med" len="med"/>
                    </a:lnB>
                    <a:solidFill>
                      <a:srgbClr val="FFFFFF"/>
                    </a:solidFill>
                  </a:tcPr>
                </a:tc>
                <a:tc>
                  <a:txBody>
                    <a:bodyPr/>
                    <a:lstStyle/>
                    <a:p>
                      <a:pPr algn="l"/>
                      <a:r>
                        <a:rPr lang="en-IN">
                          <a:effectLst/>
                        </a:rPr>
                        <a:t>78M05</a:t>
                      </a:r>
                    </a:p>
                  </a:txBody>
                  <a:tcPr marL="66675" marR="66675" marT="47625" marB="47625" anchor="ctr">
                    <a:lnL w="4763" cap="flat" cmpd="sng" algn="ctr">
                      <a:solidFill>
                        <a:srgbClr val="E8E9EB"/>
                      </a:solidFill>
                      <a:prstDash val="solid"/>
                      <a:round/>
                      <a:headEnd type="none" w="med" len="med"/>
                      <a:tailEnd type="none" w="med" len="med"/>
                    </a:lnL>
                    <a:lnR w="4763" cap="flat" cmpd="sng" algn="ctr">
                      <a:solidFill>
                        <a:srgbClr val="E8E9EB"/>
                      </a:solidFill>
                      <a:prstDash val="solid"/>
                      <a:round/>
                      <a:headEnd type="none" w="med" len="med"/>
                      <a:tailEnd type="none" w="med" len="med"/>
                    </a:lnR>
                    <a:lnT w="4763" cap="flat" cmpd="sng" algn="ctr">
                      <a:solidFill>
                        <a:srgbClr val="E8E9EB"/>
                      </a:solidFill>
                      <a:prstDash val="solid"/>
                      <a:round/>
                      <a:headEnd type="none" w="med" len="med"/>
                      <a:tailEnd type="none" w="med" len="med"/>
                    </a:lnT>
                    <a:lnB w="4763" cap="flat" cmpd="sng" algn="ctr">
                      <a:solidFill>
                        <a:srgbClr val="E8E9EB"/>
                      </a:solidFill>
                      <a:prstDash val="solid"/>
                      <a:round/>
                      <a:headEnd type="none" w="med" len="med"/>
                      <a:tailEnd type="none" w="med" len="med"/>
                    </a:lnB>
                    <a:solidFill>
                      <a:srgbClr val="FFFFFF"/>
                    </a:solidFill>
                  </a:tcPr>
                </a:tc>
                <a:extLst>
                  <a:ext uri="{0D108BD9-81ED-4DB2-BD59-A6C34878D82A}">
                    <a16:rowId xmlns:a16="http://schemas.microsoft.com/office/drawing/2014/main" val="1210107888"/>
                  </a:ext>
                </a:extLst>
              </a:tr>
              <a:tr h="602497">
                <a:tc>
                  <a:txBody>
                    <a:bodyPr/>
                    <a:lstStyle/>
                    <a:p>
                      <a:pPr algn="l"/>
                      <a:r>
                        <a:rPr lang="en-IN">
                          <a:effectLst/>
                        </a:rPr>
                        <a:t>Module dimensions</a:t>
                      </a:r>
                    </a:p>
                  </a:txBody>
                  <a:tcPr marL="66675" marR="66675" marT="47625" marB="47625" anchor="ctr">
                    <a:lnL w="4763" cap="flat" cmpd="sng" algn="ctr">
                      <a:solidFill>
                        <a:srgbClr val="E8E9EB"/>
                      </a:solidFill>
                      <a:prstDash val="solid"/>
                      <a:round/>
                      <a:headEnd type="none" w="med" len="med"/>
                      <a:tailEnd type="none" w="med" len="med"/>
                    </a:lnL>
                    <a:lnR w="4763" cap="flat" cmpd="sng" algn="ctr">
                      <a:solidFill>
                        <a:srgbClr val="E8E9EB"/>
                      </a:solidFill>
                      <a:prstDash val="solid"/>
                      <a:round/>
                      <a:headEnd type="none" w="med" len="med"/>
                      <a:tailEnd type="none" w="med" len="med"/>
                    </a:lnR>
                    <a:lnT w="4763" cap="flat" cmpd="sng" algn="ctr">
                      <a:solidFill>
                        <a:srgbClr val="E8E9EB"/>
                      </a:solidFill>
                      <a:prstDash val="solid"/>
                      <a:round/>
                      <a:headEnd type="none" w="med" len="med"/>
                      <a:tailEnd type="none" w="med" len="med"/>
                    </a:lnT>
                    <a:lnB w="4763" cap="flat" cmpd="sng" algn="ctr">
                      <a:solidFill>
                        <a:srgbClr val="E8E9EB"/>
                      </a:solidFill>
                      <a:prstDash val="solid"/>
                      <a:round/>
                      <a:headEnd type="none" w="med" len="med"/>
                      <a:tailEnd type="none" w="med" len="med"/>
                    </a:lnB>
                    <a:solidFill>
                      <a:srgbClr val="FFFFFF"/>
                    </a:solidFill>
                  </a:tcPr>
                </a:tc>
                <a:tc>
                  <a:txBody>
                    <a:bodyPr/>
                    <a:lstStyle/>
                    <a:p>
                      <a:pPr algn="l"/>
                      <a:r>
                        <a:rPr lang="en-IN">
                          <a:effectLst/>
                        </a:rPr>
                        <a:t>43 x 43 x 28 mm</a:t>
                      </a:r>
                    </a:p>
                  </a:txBody>
                  <a:tcPr marL="66675" marR="66675" marT="47625" marB="47625" anchor="ctr">
                    <a:lnL w="4763" cap="flat" cmpd="sng" algn="ctr">
                      <a:solidFill>
                        <a:srgbClr val="E8E9EB"/>
                      </a:solidFill>
                      <a:prstDash val="solid"/>
                      <a:round/>
                      <a:headEnd type="none" w="med" len="med"/>
                      <a:tailEnd type="none" w="med" len="med"/>
                    </a:lnL>
                    <a:lnR w="4763" cap="flat" cmpd="sng" algn="ctr">
                      <a:solidFill>
                        <a:srgbClr val="E8E9EB"/>
                      </a:solidFill>
                      <a:prstDash val="solid"/>
                      <a:round/>
                      <a:headEnd type="none" w="med" len="med"/>
                      <a:tailEnd type="none" w="med" len="med"/>
                    </a:lnR>
                    <a:lnT w="4763" cap="flat" cmpd="sng" algn="ctr">
                      <a:solidFill>
                        <a:srgbClr val="E8E9EB"/>
                      </a:solidFill>
                      <a:prstDash val="solid"/>
                      <a:round/>
                      <a:headEnd type="none" w="med" len="med"/>
                      <a:tailEnd type="none" w="med" len="med"/>
                    </a:lnT>
                    <a:lnB w="4763" cap="flat" cmpd="sng" algn="ctr">
                      <a:solidFill>
                        <a:srgbClr val="E8E9EB"/>
                      </a:solidFill>
                      <a:prstDash val="solid"/>
                      <a:round/>
                      <a:headEnd type="none" w="med" len="med"/>
                      <a:tailEnd type="none" w="med" len="med"/>
                    </a:lnB>
                    <a:solidFill>
                      <a:srgbClr val="FFFFFF"/>
                    </a:solidFill>
                  </a:tcPr>
                </a:tc>
                <a:extLst>
                  <a:ext uri="{0D108BD9-81ED-4DB2-BD59-A6C34878D82A}">
                    <a16:rowId xmlns:a16="http://schemas.microsoft.com/office/drawing/2014/main" val="4182137686"/>
                  </a:ext>
                </a:extLst>
              </a:tr>
              <a:tr h="1049712">
                <a:tc>
                  <a:txBody>
                    <a:bodyPr/>
                    <a:lstStyle/>
                    <a:p>
                      <a:pPr algn="l"/>
                      <a:r>
                        <a:rPr lang="en-IN">
                          <a:effectLst/>
                        </a:rPr>
                        <a:t>Junction operating temperature</a:t>
                      </a:r>
                    </a:p>
                  </a:txBody>
                  <a:tcPr marL="66675" marR="66675" marT="47625" marB="47625" anchor="ctr">
                    <a:lnL w="4763" cap="flat" cmpd="sng" algn="ctr">
                      <a:solidFill>
                        <a:srgbClr val="E8E9EB"/>
                      </a:solidFill>
                      <a:prstDash val="solid"/>
                      <a:round/>
                      <a:headEnd type="none" w="med" len="med"/>
                      <a:tailEnd type="none" w="med" len="med"/>
                    </a:lnL>
                    <a:lnR w="4763" cap="flat" cmpd="sng" algn="ctr">
                      <a:solidFill>
                        <a:srgbClr val="E8E9EB"/>
                      </a:solidFill>
                      <a:prstDash val="solid"/>
                      <a:round/>
                      <a:headEnd type="none" w="med" len="med"/>
                      <a:tailEnd type="none" w="med" len="med"/>
                    </a:lnR>
                    <a:lnT w="4763" cap="flat" cmpd="sng" algn="ctr">
                      <a:solidFill>
                        <a:srgbClr val="E8E9EB"/>
                      </a:solidFill>
                      <a:prstDash val="solid"/>
                      <a:round/>
                      <a:headEnd type="none" w="med" len="med"/>
                      <a:tailEnd type="none" w="med" len="med"/>
                    </a:lnT>
                    <a:lnB w="4763" cap="flat" cmpd="sng" algn="ctr">
                      <a:solidFill>
                        <a:srgbClr val="E8E9EB"/>
                      </a:solidFill>
                      <a:prstDash val="solid"/>
                      <a:round/>
                      <a:headEnd type="none" w="med" len="med"/>
                      <a:tailEnd type="none" w="med" len="med"/>
                    </a:lnB>
                    <a:solidFill>
                      <a:srgbClr val="FFFFFF"/>
                    </a:solidFill>
                  </a:tcPr>
                </a:tc>
                <a:tc>
                  <a:txBody>
                    <a:bodyPr/>
                    <a:lstStyle/>
                    <a:p>
                      <a:pPr algn="l"/>
                      <a:r>
                        <a:rPr lang="pl-PL" dirty="0">
                          <a:effectLst/>
                        </a:rPr>
                        <a:t>-25 to 130</a:t>
                      </a:r>
                      <a:r>
                        <a:rPr lang="pl-PL" baseline="30000" dirty="0">
                          <a:effectLst/>
                        </a:rPr>
                        <a:t> o</a:t>
                      </a:r>
                      <a:r>
                        <a:rPr lang="pl-PL" dirty="0">
                          <a:effectLst/>
                        </a:rPr>
                        <a:t> Celsius</a:t>
                      </a:r>
                    </a:p>
                  </a:txBody>
                  <a:tcPr marL="66675" marR="66675" marT="47625" marB="47625" anchor="ctr">
                    <a:lnL w="4763" cap="flat" cmpd="sng" algn="ctr">
                      <a:solidFill>
                        <a:srgbClr val="E8E9EB"/>
                      </a:solidFill>
                      <a:prstDash val="solid"/>
                      <a:round/>
                      <a:headEnd type="none" w="med" len="med"/>
                      <a:tailEnd type="none" w="med" len="med"/>
                    </a:lnL>
                    <a:lnR w="4763" cap="flat" cmpd="sng" algn="ctr">
                      <a:solidFill>
                        <a:srgbClr val="E8E9EB"/>
                      </a:solidFill>
                      <a:prstDash val="solid"/>
                      <a:round/>
                      <a:headEnd type="none" w="med" len="med"/>
                      <a:tailEnd type="none" w="med" len="med"/>
                    </a:lnR>
                    <a:lnT w="4763" cap="flat" cmpd="sng" algn="ctr">
                      <a:solidFill>
                        <a:srgbClr val="E8E9EB"/>
                      </a:solidFill>
                      <a:prstDash val="solid"/>
                      <a:round/>
                      <a:headEnd type="none" w="med" len="med"/>
                      <a:tailEnd type="none" w="med" len="med"/>
                    </a:lnT>
                    <a:lnB w="4763" cap="flat" cmpd="sng" algn="ctr">
                      <a:solidFill>
                        <a:srgbClr val="E8E9EB"/>
                      </a:solidFill>
                      <a:prstDash val="solid"/>
                      <a:round/>
                      <a:headEnd type="none" w="med" len="med"/>
                      <a:tailEnd type="none" w="med" len="med"/>
                    </a:lnB>
                    <a:solidFill>
                      <a:srgbClr val="FFFFFF"/>
                    </a:solidFill>
                  </a:tcPr>
                </a:tc>
                <a:extLst>
                  <a:ext uri="{0D108BD9-81ED-4DB2-BD59-A6C34878D82A}">
                    <a16:rowId xmlns:a16="http://schemas.microsoft.com/office/drawing/2014/main" val="804249723"/>
                  </a:ext>
                </a:extLst>
              </a:tr>
            </a:tbl>
          </a:graphicData>
        </a:graphic>
      </p:graphicFrame>
    </p:spTree>
    <p:extLst>
      <p:ext uri="{BB962C8B-B14F-4D97-AF65-F5344CB8AC3E}">
        <p14:creationId xmlns:p14="http://schemas.microsoft.com/office/powerpoint/2010/main" val="1622831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75D786-1ED9-5A77-6777-92361A6B665C}"/>
              </a:ext>
            </a:extLst>
          </p:cNvPr>
          <p:cNvSpPr txBox="1"/>
          <p:nvPr/>
        </p:nvSpPr>
        <p:spPr>
          <a:xfrm>
            <a:off x="66782" y="51372"/>
            <a:ext cx="11733088" cy="3785652"/>
          </a:xfrm>
          <a:prstGeom prst="rect">
            <a:avLst/>
          </a:prstGeom>
          <a:noFill/>
        </p:spPr>
        <p:txBody>
          <a:bodyPr wrap="square">
            <a:spAutoFit/>
          </a:bodyPr>
          <a:lstStyle/>
          <a:p>
            <a:r>
              <a:rPr lang="en-US" sz="2400" dirty="0"/>
              <a:t>HOW IR SENSOR MODULE WORKS</a:t>
            </a:r>
          </a:p>
          <a:p>
            <a:r>
              <a:rPr lang="en-US" sz="2400" dirty="0"/>
              <a:t>When we connect the InfraRed sensor module to the 5v power supply. Infrared LED  starts emitting infrared rays. These infrared rays reach to object’s surface and this radiation gets reflected back to the IR receiver. The Photodiode or IR receiver detects the infrared light and produces output accordingly.</a:t>
            </a:r>
          </a:p>
          <a:p>
            <a:r>
              <a:rPr lang="en-US" sz="2400" b="0" i="0" dirty="0">
                <a:solidFill>
                  <a:srgbClr val="383E47"/>
                </a:solidFill>
                <a:effectLst/>
                <a:latin typeface="Arimo"/>
              </a:rPr>
              <a:t>IR sensor consists of an Infrared LED and a Photodiode. An IR LED is a special-purpose LED, that emits infrared rays ranging from 700 nm to 1 mm wavelength. Such types of rays are invisible to our eyes. In nutshell, a photodiode or IR Receiver LED detects infrared rays.</a:t>
            </a:r>
            <a:endParaRPr lang="en-US" sz="2400" dirty="0"/>
          </a:p>
          <a:p>
            <a:endParaRPr lang="en-US" sz="2400" dirty="0"/>
          </a:p>
          <a:p>
            <a:r>
              <a:rPr lang="en-US" sz="2400" dirty="0"/>
              <a:t> </a:t>
            </a:r>
            <a:endParaRPr lang="en-IN" sz="2400" dirty="0"/>
          </a:p>
        </p:txBody>
      </p:sp>
      <p:pic>
        <p:nvPicPr>
          <p:cNvPr id="5" name="Picture 4">
            <a:extLst>
              <a:ext uri="{FF2B5EF4-FFF2-40B4-BE49-F238E27FC236}">
                <a16:creationId xmlns:a16="http://schemas.microsoft.com/office/drawing/2014/main" id="{53922802-805D-616D-CBC0-B6043B61E0B4}"/>
              </a:ext>
            </a:extLst>
          </p:cNvPr>
          <p:cNvPicPr>
            <a:picLocks noChangeAspect="1"/>
          </p:cNvPicPr>
          <p:nvPr/>
        </p:nvPicPr>
        <p:blipFill>
          <a:blip r:embed="rId2"/>
          <a:stretch>
            <a:fillRect/>
          </a:stretch>
        </p:blipFill>
        <p:spPr>
          <a:xfrm>
            <a:off x="702318" y="3185458"/>
            <a:ext cx="5169363" cy="3343299"/>
          </a:xfrm>
          <a:prstGeom prst="rect">
            <a:avLst/>
          </a:prstGeom>
        </p:spPr>
      </p:pic>
    </p:spTree>
    <p:extLst>
      <p:ext uri="{BB962C8B-B14F-4D97-AF65-F5344CB8AC3E}">
        <p14:creationId xmlns:p14="http://schemas.microsoft.com/office/powerpoint/2010/main" val="2723157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rtfgrdrewrerewwwwwwwwwwdassssewq4ewqew">
            <a:extLst>
              <a:ext uri="{FF2B5EF4-FFF2-40B4-BE49-F238E27FC236}">
                <a16:creationId xmlns:a16="http://schemas.microsoft.com/office/drawing/2014/main" id="{8AD18003-FD24-7944-8C80-41DE3F845E74}"/>
              </a:ext>
              <a:ext uri="{C183D7F6-B498-43B3-948B-1728B52AA6E4}">
                <adec:decorative xmlns:adec="http://schemas.microsoft.com/office/drawing/2017/decorative" val="0"/>
              </a:ext>
            </a:extLst>
          </p:cNvPr>
          <p:cNvPicPr>
            <a:picLocks noChangeAspect="1"/>
          </p:cNvPicPr>
          <p:nvPr/>
        </p:nvPicPr>
        <p:blipFill>
          <a:blip r:embed="rId2">
            <a:alphaModFix amt="70000"/>
            <a:grayscl/>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tretch>
            <a:fillRect/>
          </a:stretch>
        </p:blipFill>
        <p:spPr>
          <a:xfrm rot="16200000">
            <a:off x="2668241" y="-2668242"/>
            <a:ext cx="6855519" cy="12192001"/>
          </a:xfrm>
          <a:prstGeom prst="rect">
            <a:avLst/>
          </a:prstGeom>
          <a:effectLst>
            <a:glow>
              <a:schemeClr val="accent1">
                <a:alpha val="67000"/>
              </a:schemeClr>
            </a:glow>
            <a:outerShdw blurRad="50800" dist="50800" dir="1740000" algn="ctr" rotWithShape="0">
              <a:srgbClr val="000000">
                <a:alpha val="13000"/>
              </a:srgbClr>
            </a:outerShdw>
            <a:reflection endPos="0" dist="50800" dir="5400000" sy="-100000" algn="bl" rotWithShape="0"/>
            <a:softEdge rad="0"/>
          </a:effectLst>
        </p:spPr>
      </p:pic>
      <p:sp>
        <p:nvSpPr>
          <p:cNvPr id="2" name="TextBox 1">
            <a:extLst>
              <a:ext uri="{FF2B5EF4-FFF2-40B4-BE49-F238E27FC236}">
                <a16:creationId xmlns:a16="http://schemas.microsoft.com/office/drawing/2014/main" id="{2D5C9B4C-C65B-89BE-3150-C7E53864CCCB}"/>
              </a:ext>
            </a:extLst>
          </p:cNvPr>
          <p:cNvSpPr txBox="1"/>
          <p:nvPr/>
        </p:nvSpPr>
        <p:spPr>
          <a:xfrm>
            <a:off x="1094198" y="1243173"/>
            <a:ext cx="10679986" cy="3785652"/>
          </a:xfrm>
          <a:prstGeom prst="rect">
            <a:avLst/>
          </a:prstGeom>
          <a:noFill/>
        </p:spPr>
        <p:txBody>
          <a:bodyPr wrap="square" rtlCol="0">
            <a:spAutoFit/>
          </a:bodyPr>
          <a:lstStyle/>
          <a:p>
            <a:r>
              <a:rPr lang="en-IN" sz="12000" dirty="0">
                <a:solidFill>
                  <a:schemeClr val="bg1"/>
                </a:solidFill>
                <a:latin typeface="Algerian" panose="04020705040A02060702" pitchFamily="82" charset="0"/>
              </a:rPr>
              <a:t>     Circuit </a:t>
            </a:r>
          </a:p>
          <a:p>
            <a:r>
              <a:rPr lang="en-IN" sz="12000" dirty="0">
                <a:solidFill>
                  <a:schemeClr val="bg1"/>
                </a:solidFill>
                <a:latin typeface="Algerian" panose="04020705040A02060702" pitchFamily="82" charset="0"/>
              </a:rPr>
              <a:t>    diagram</a:t>
            </a:r>
          </a:p>
        </p:txBody>
      </p:sp>
    </p:spTree>
    <p:extLst>
      <p:ext uri="{BB962C8B-B14F-4D97-AF65-F5344CB8AC3E}">
        <p14:creationId xmlns:p14="http://schemas.microsoft.com/office/powerpoint/2010/main" val="33375698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13F5BA3-6978-98FD-FB28-25075ABCA9B4}"/>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639905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9909E0-5738-B3C0-8AA4-931AE0B77EE2}"/>
              </a:ext>
            </a:extLst>
          </p:cNvPr>
          <p:cNvSpPr txBox="1"/>
          <p:nvPr/>
        </p:nvSpPr>
        <p:spPr>
          <a:xfrm>
            <a:off x="241443" y="267128"/>
            <a:ext cx="11789595" cy="1754326"/>
          </a:xfrm>
          <a:prstGeom prst="rect">
            <a:avLst/>
          </a:prstGeom>
          <a:noFill/>
        </p:spPr>
        <p:txBody>
          <a:bodyPr wrap="square" rtlCol="0">
            <a:spAutoFit/>
          </a:bodyPr>
          <a:lstStyle/>
          <a:p>
            <a:pPr algn="l"/>
            <a:r>
              <a:rPr lang="en-US" sz="2400" b="0" i="0" dirty="0">
                <a:solidFill>
                  <a:srgbClr val="191919"/>
                </a:solidFill>
                <a:effectLst/>
                <a:latin typeface="Segoe UI" panose="020B0502040204020203" pitchFamily="34" charset="0"/>
              </a:rPr>
              <a:t>The spinning direction of the motor can be controlled by applying logic HIGH (5V) or logic LOW (Ground) to these inputs. The chart below shows various combinations and their outcomes.</a:t>
            </a:r>
          </a:p>
          <a:p>
            <a:br>
              <a:rPr lang="en-US" dirty="0"/>
            </a:br>
            <a:endParaRPr lang="en-IN" dirty="0"/>
          </a:p>
        </p:txBody>
      </p:sp>
      <p:graphicFrame>
        <p:nvGraphicFramePr>
          <p:cNvPr id="4" name="Table 3">
            <a:extLst>
              <a:ext uri="{FF2B5EF4-FFF2-40B4-BE49-F238E27FC236}">
                <a16:creationId xmlns:a16="http://schemas.microsoft.com/office/drawing/2014/main" id="{1804EB81-F9E4-3059-FDCA-FC4A0D55FB7F}"/>
              </a:ext>
            </a:extLst>
          </p:cNvPr>
          <p:cNvGraphicFramePr>
            <a:graphicFrameLocks noGrp="1"/>
          </p:cNvGraphicFramePr>
          <p:nvPr>
            <p:extLst>
              <p:ext uri="{D42A27DB-BD31-4B8C-83A1-F6EECF244321}">
                <p14:modId xmlns:p14="http://schemas.microsoft.com/office/powerpoint/2010/main" val="3534399516"/>
              </p:ext>
            </p:extLst>
          </p:nvPr>
        </p:nvGraphicFramePr>
        <p:xfrm>
          <a:off x="838200" y="1453793"/>
          <a:ext cx="10515600" cy="4597685"/>
        </p:xfrm>
        <a:graphic>
          <a:graphicData uri="http://schemas.openxmlformats.org/drawingml/2006/table">
            <a:tbl>
              <a:tblPr/>
              <a:tblGrid>
                <a:gridCol w="3505200">
                  <a:extLst>
                    <a:ext uri="{9D8B030D-6E8A-4147-A177-3AD203B41FA5}">
                      <a16:colId xmlns:a16="http://schemas.microsoft.com/office/drawing/2014/main" val="1438862294"/>
                    </a:ext>
                  </a:extLst>
                </a:gridCol>
                <a:gridCol w="3505200">
                  <a:extLst>
                    <a:ext uri="{9D8B030D-6E8A-4147-A177-3AD203B41FA5}">
                      <a16:colId xmlns:a16="http://schemas.microsoft.com/office/drawing/2014/main" val="3458248585"/>
                    </a:ext>
                  </a:extLst>
                </a:gridCol>
                <a:gridCol w="3505200">
                  <a:extLst>
                    <a:ext uri="{9D8B030D-6E8A-4147-A177-3AD203B41FA5}">
                      <a16:colId xmlns:a16="http://schemas.microsoft.com/office/drawing/2014/main" val="2419575967"/>
                    </a:ext>
                  </a:extLst>
                </a:gridCol>
              </a:tblGrid>
              <a:tr h="663598">
                <a:tc>
                  <a:txBody>
                    <a:bodyPr/>
                    <a:lstStyle/>
                    <a:p>
                      <a:pPr algn="ctr"/>
                      <a:r>
                        <a:rPr lang="en-IN">
                          <a:effectLst/>
                        </a:rPr>
                        <a:t>Input1</a:t>
                      </a:r>
                    </a:p>
                  </a:txBody>
                  <a:tcPr marL="38100" marR="38100" marT="38100" marB="38100" anchor="ctr">
                    <a:lnL>
                      <a:noFill/>
                    </a:lnL>
                    <a:lnR>
                      <a:noFill/>
                    </a:lnR>
                    <a:lnT w="4763" cap="flat" cmpd="sng" algn="ctr">
                      <a:solidFill>
                        <a:srgbClr val="D2D3D7"/>
                      </a:solidFill>
                      <a:prstDash val="solid"/>
                      <a:round/>
                      <a:headEnd type="none" w="med" len="med"/>
                      <a:tailEnd type="none" w="med" len="med"/>
                    </a:lnT>
                    <a:lnB w="4763" cap="flat" cmpd="sng" algn="ctr">
                      <a:solidFill>
                        <a:srgbClr val="D2D3D7"/>
                      </a:solidFill>
                      <a:prstDash val="solid"/>
                      <a:round/>
                      <a:headEnd type="none" w="med" len="med"/>
                      <a:tailEnd type="none" w="med" len="med"/>
                    </a:lnB>
                    <a:solidFill>
                      <a:srgbClr val="FFFFFF"/>
                    </a:solidFill>
                  </a:tcPr>
                </a:tc>
                <a:tc>
                  <a:txBody>
                    <a:bodyPr/>
                    <a:lstStyle/>
                    <a:p>
                      <a:pPr algn="ctr"/>
                      <a:r>
                        <a:rPr lang="en-IN">
                          <a:effectLst/>
                        </a:rPr>
                        <a:t>Input2</a:t>
                      </a:r>
                    </a:p>
                  </a:txBody>
                  <a:tcPr marL="38100" marR="38100" marT="38100" marB="38100" anchor="ctr">
                    <a:lnL>
                      <a:noFill/>
                    </a:lnL>
                    <a:lnR>
                      <a:noFill/>
                    </a:lnR>
                    <a:lnT w="4763" cap="flat" cmpd="sng" algn="ctr">
                      <a:solidFill>
                        <a:srgbClr val="D2D3D7"/>
                      </a:solidFill>
                      <a:prstDash val="solid"/>
                      <a:round/>
                      <a:headEnd type="none" w="med" len="med"/>
                      <a:tailEnd type="none" w="med" len="med"/>
                    </a:lnT>
                    <a:lnB w="4763" cap="flat" cmpd="sng" algn="ctr">
                      <a:solidFill>
                        <a:srgbClr val="D2D3D7"/>
                      </a:solidFill>
                      <a:prstDash val="solid"/>
                      <a:round/>
                      <a:headEnd type="none" w="med" len="med"/>
                      <a:tailEnd type="none" w="med" len="med"/>
                    </a:lnB>
                    <a:solidFill>
                      <a:srgbClr val="FFFFFF"/>
                    </a:solidFill>
                  </a:tcPr>
                </a:tc>
                <a:tc>
                  <a:txBody>
                    <a:bodyPr/>
                    <a:lstStyle/>
                    <a:p>
                      <a:pPr algn="ctr"/>
                      <a:r>
                        <a:rPr lang="en-IN">
                          <a:effectLst/>
                        </a:rPr>
                        <a:t>Spinning Direction</a:t>
                      </a:r>
                    </a:p>
                  </a:txBody>
                  <a:tcPr marL="38100" marR="38100" marT="38100" marB="38100" anchor="ctr">
                    <a:lnL>
                      <a:noFill/>
                    </a:lnL>
                    <a:lnR>
                      <a:noFill/>
                    </a:lnR>
                    <a:lnT w="4763" cap="flat" cmpd="sng" algn="ctr">
                      <a:solidFill>
                        <a:srgbClr val="D2D3D7"/>
                      </a:solidFill>
                      <a:prstDash val="solid"/>
                      <a:round/>
                      <a:headEnd type="none" w="med" len="med"/>
                      <a:tailEnd type="none" w="med" len="med"/>
                    </a:lnT>
                    <a:lnB w="4763" cap="flat" cmpd="sng" algn="ctr">
                      <a:solidFill>
                        <a:srgbClr val="D2D3D7"/>
                      </a:solidFill>
                      <a:prstDash val="solid"/>
                      <a:round/>
                      <a:headEnd type="none" w="med" len="med"/>
                      <a:tailEnd type="none" w="med" len="med"/>
                    </a:lnB>
                    <a:solidFill>
                      <a:srgbClr val="FFFFFF"/>
                    </a:solidFill>
                  </a:tcPr>
                </a:tc>
                <a:extLst>
                  <a:ext uri="{0D108BD9-81ED-4DB2-BD59-A6C34878D82A}">
                    <a16:rowId xmlns:a16="http://schemas.microsoft.com/office/drawing/2014/main" val="2217734131"/>
                  </a:ext>
                </a:extLst>
              </a:tr>
              <a:tr h="663598">
                <a:tc>
                  <a:txBody>
                    <a:bodyPr/>
                    <a:lstStyle/>
                    <a:p>
                      <a:pPr algn="ctr"/>
                      <a:r>
                        <a:rPr lang="en-IN">
                          <a:effectLst/>
                        </a:rPr>
                        <a:t>Low(0)</a:t>
                      </a:r>
                    </a:p>
                  </a:txBody>
                  <a:tcPr marL="38100" marR="38100" marT="38100" marB="38100" anchor="ctr">
                    <a:lnL>
                      <a:noFill/>
                    </a:lnL>
                    <a:lnR>
                      <a:noFill/>
                    </a:lnR>
                    <a:lnT w="4763" cap="flat" cmpd="sng" algn="ctr">
                      <a:solidFill>
                        <a:srgbClr val="D2D3D7"/>
                      </a:solidFill>
                      <a:prstDash val="solid"/>
                      <a:round/>
                      <a:headEnd type="none" w="med" len="med"/>
                      <a:tailEnd type="none" w="med" len="med"/>
                    </a:lnT>
                    <a:lnB w="4763" cap="flat" cmpd="sng" algn="ctr">
                      <a:solidFill>
                        <a:srgbClr val="D2D3D7"/>
                      </a:solidFill>
                      <a:prstDash val="solid"/>
                      <a:round/>
                      <a:headEnd type="none" w="med" len="med"/>
                      <a:tailEnd type="none" w="med" len="med"/>
                    </a:lnB>
                    <a:solidFill>
                      <a:srgbClr val="FFFFFF"/>
                    </a:solidFill>
                  </a:tcPr>
                </a:tc>
                <a:tc>
                  <a:txBody>
                    <a:bodyPr/>
                    <a:lstStyle/>
                    <a:p>
                      <a:pPr algn="ctr"/>
                      <a:r>
                        <a:rPr lang="en-IN">
                          <a:effectLst/>
                        </a:rPr>
                        <a:t>Low(0)</a:t>
                      </a:r>
                    </a:p>
                  </a:txBody>
                  <a:tcPr marL="38100" marR="38100" marT="38100" marB="38100" anchor="ctr">
                    <a:lnL>
                      <a:noFill/>
                    </a:lnL>
                    <a:lnR>
                      <a:noFill/>
                    </a:lnR>
                    <a:lnT w="4763" cap="flat" cmpd="sng" algn="ctr">
                      <a:solidFill>
                        <a:srgbClr val="D2D3D7"/>
                      </a:solidFill>
                      <a:prstDash val="solid"/>
                      <a:round/>
                      <a:headEnd type="none" w="med" len="med"/>
                      <a:tailEnd type="none" w="med" len="med"/>
                    </a:lnT>
                    <a:lnB w="4763" cap="flat" cmpd="sng" algn="ctr">
                      <a:solidFill>
                        <a:srgbClr val="D2D3D7"/>
                      </a:solidFill>
                      <a:prstDash val="solid"/>
                      <a:round/>
                      <a:headEnd type="none" w="med" len="med"/>
                      <a:tailEnd type="none" w="med" len="med"/>
                    </a:lnB>
                    <a:solidFill>
                      <a:srgbClr val="FFFFFF"/>
                    </a:solidFill>
                  </a:tcPr>
                </a:tc>
                <a:tc>
                  <a:txBody>
                    <a:bodyPr/>
                    <a:lstStyle/>
                    <a:p>
                      <a:pPr algn="ctr"/>
                      <a:r>
                        <a:rPr lang="en-IN">
                          <a:effectLst/>
                        </a:rPr>
                        <a:t>Motor OFF</a:t>
                      </a:r>
                    </a:p>
                  </a:txBody>
                  <a:tcPr marL="38100" marR="38100" marT="38100" marB="38100" anchor="ctr">
                    <a:lnL>
                      <a:noFill/>
                    </a:lnL>
                    <a:lnR>
                      <a:noFill/>
                    </a:lnR>
                    <a:lnT w="4763" cap="flat" cmpd="sng" algn="ctr">
                      <a:solidFill>
                        <a:srgbClr val="D2D3D7"/>
                      </a:solidFill>
                      <a:prstDash val="solid"/>
                      <a:round/>
                      <a:headEnd type="none" w="med" len="med"/>
                      <a:tailEnd type="none" w="med" len="med"/>
                    </a:lnT>
                    <a:lnB w="4763" cap="flat" cmpd="sng" algn="ctr">
                      <a:solidFill>
                        <a:srgbClr val="D2D3D7"/>
                      </a:solidFill>
                      <a:prstDash val="solid"/>
                      <a:round/>
                      <a:headEnd type="none" w="med" len="med"/>
                      <a:tailEnd type="none" w="med" len="med"/>
                    </a:lnB>
                    <a:solidFill>
                      <a:srgbClr val="FFFFFF"/>
                    </a:solidFill>
                  </a:tcPr>
                </a:tc>
                <a:extLst>
                  <a:ext uri="{0D108BD9-81ED-4DB2-BD59-A6C34878D82A}">
                    <a16:rowId xmlns:a16="http://schemas.microsoft.com/office/drawing/2014/main" val="1389007233"/>
                  </a:ext>
                </a:extLst>
              </a:tr>
              <a:tr h="663598">
                <a:tc>
                  <a:txBody>
                    <a:bodyPr/>
                    <a:lstStyle/>
                    <a:p>
                      <a:pPr algn="ctr"/>
                      <a:r>
                        <a:rPr lang="en-IN">
                          <a:effectLst/>
                        </a:rPr>
                        <a:t>High(1)</a:t>
                      </a:r>
                    </a:p>
                  </a:txBody>
                  <a:tcPr marL="38100" marR="38100" marT="38100" marB="38100" anchor="ctr">
                    <a:lnL>
                      <a:noFill/>
                    </a:lnL>
                    <a:lnR>
                      <a:noFill/>
                    </a:lnR>
                    <a:lnT w="4763" cap="flat" cmpd="sng" algn="ctr">
                      <a:solidFill>
                        <a:srgbClr val="D2D3D7"/>
                      </a:solidFill>
                      <a:prstDash val="solid"/>
                      <a:round/>
                      <a:headEnd type="none" w="med" len="med"/>
                      <a:tailEnd type="none" w="med" len="med"/>
                    </a:lnT>
                    <a:lnB w="4763" cap="flat" cmpd="sng" algn="ctr">
                      <a:solidFill>
                        <a:srgbClr val="D2D3D7"/>
                      </a:solidFill>
                      <a:prstDash val="solid"/>
                      <a:round/>
                      <a:headEnd type="none" w="med" len="med"/>
                      <a:tailEnd type="none" w="med" len="med"/>
                    </a:lnB>
                    <a:solidFill>
                      <a:srgbClr val="FFFFFF"/>
                    </a:solidFill>
                  </a:tcPr>
                </a:tc>
                <a:tc>
                  <a:txBody>
                    <a:bodyPr/>
                    <a:lstStyle/>
                    <a:p>
                      <a:pPr algn="ctr"/>
                      <a:r>
                        <a:rPr lang="en-IN">
                          <a:effectLst/>
                        </a:rPr>
                        <a:t>Low(0)</a:t>
                      </a:r>
                    </a:p>
                  </a:txBody>
                  <a:tcPr marL="38100" marR="38100" marT="38100" marB="38100" anchor="ctr">
                    <a:lnL>
                      <a:noFill/>
                    </a:lnL>
                    <a:lnR>
                      <a:noFill/>
                    </a:lnR>
                    <a:lnT w="4763" cap="flat" cmpd="sng" algn="ctr">
                      <a:solidFill>
                        <a:srgbClr val="D2D3D7"/>
                      </a:solidFill>
                      <a:prstDash val="solid"/>
                      <a:round/>
                      <a:headEnd type="none" w="med" len="med"/>
                      <a:tailEnd type="none" w="med" len="med"/>
                    </a:lnT>
                    <a:lnB w="4763" cap="flat" cmpd="sng" algn="ctr">
                      <a:solidFill>
                        <a:srgbClr val="D2D3D7"/>
                      </a:solidFill>
                      <a:prstDash val="solid"/>
                      <a:round/>
                      <a:headEnd type="none" w="med" len="med"/>
                      <a:tailEnd type="none" w="med" len="med"/>
                    </a:lnB>
                    <a:solidFill>
                      <a:srgbClr val="FFFFFF"/>
                    </a:solidFill>
                  </a:tcPr>
                </a:tc>
                <a:tc>
                  <a:txBody>
                    <a:bodyPr/>
                    <a:lstStyle/>
                    <a:p>
                      <a:pPr algn="ctr"/>
                      <a:r>
                        <a:rPr lang="en-IN" dirty="0">
                          <a:effectLst/>
                        </a:rPr>
                        <a:t>Forward</a:t>
                      </a:r>
                    </a:p>
                  </a:txBody>
                  <a:tcPr marL="38100" marR="38100" marT="38100" marB="38100" anchor="ctr">
                    <a:lnL>
                      <a:noFill/>
                    </a:lnL>
                    <a:lnR>
                      <a:noFill/>
                    </a:lnR>
                    <a:lnT w="4763" cap="flat" cmpd="sng" algn="ctr">
                      <a:solidFill>
                        <a:srgbClr val="D2D3D7"/>
                      </a:solidFill>
                      <a:prstDash val="solid"/>
                      <a:round/>
                      <a:headEnd type="none" w="med" len="med"/>
                      <a:tailEnd type="none" w="med" len="med"/>
                    </a:lnT>
                    <a:lnB w="4763" cap="flat" cmpd="sng" algn="ctr">
                      <a:solidFill>
                        <a:srgbClr val="D2D3D7"/>
                      </a:solidFill>
                      <a:prstDash val="solid"/>
                      <a:round/>
                      <a:headEnd type="none" w="med" len="med"/>
                      <a:tailEnd type="none" w="med" len="med"/>
                    </a:lnB>
                    <a:solidFill>
                      <a:srgbClr val="FFFFFF"/>
                    </a:solidFill>
                  </a:tcPr>
                </a:tc>
                <a:extLst>
                  <a:ext uri="{0D108BD9-81ED-4DB2-BD59-A6C34878D82A}">
                    <a16:rowId xmlns:a16="http://schemas.microsoft.com/office/drawing/2014/main" val="4226103951"/>
                  </a:ext>
                </a:extLst>
              </a:tr>
              <a:tr h="663598">
                <a:tc>
                  <a:txBody>
                    <a:bodyPr/>
                    <a:lstStyle/>
                    <a:p>
                      <a:pPr algn="ctr"/>
                      <a:r>
                        <a:rPr lang="en-IN">
                          <a:effectLst/>
                        </a:rPr>
                        <a:t>Low(0)</a:t>
                      </a:r>
                    </a:p>
                  </a:txBody>
                  <a:tcPr marL="38100" marR="38100" marT="38100" marB="38100" anchor="ctr">
                    <a:lnL>
                      <a:noFill/>
                    </a:lnL>
                    <a:lnR>
                      <a:noFill/>
                    </a:lnR>
                    <a:lnT w="4763" cap="flat" cmpd="sng" algn="ctr">
                      <a:solidFill>
                        <a:srgbClr val="D2D3D7"/>
                      </a:solidFill>
                      <a:prstDash val="solid"/>
                      <a:round/>
                      <a:headEnd type="none" w="med" len="med"/>
                      <a:tailEnd type="none" w="med" len="med"/>
                    </a:lnT>
                    <a:lnB w="4763" cap="flat" cmpd="sng" algn="ctr">
                      <a:solidFill>
                        <a:srgbClr val="D2D3D7"/>
                      </a:solidFill>
                      <a:prstDash val="solid"/>
                      <a:round/>
                      <a:headEnd type="none" w="med" len="med"/>
                      <a:tailEnd type="none" w="med" len="med"/>
                    </a:lnB>
                    <a:solidFill>
                      <a:srgbClr val="FFFFFF"/>
                    </a:solidFill>
                  </a:tcPr>
                </a:tc>
                <a:tc>
                  <a:txBody>
                    <a:bodyPr/>
                    <a:lstStyle/>
                    <a:p>
                      <a:pPr algn="ctr"/>
                      <a:r>
                        <a:rPr lang="en-IN">
                          <a:effectLst/>
                        </a:rPr>
                        <a:t>High(1)</a:t>
                      </a:r>
                    </a:p>
                  </a:txBody>
                  <a:tcPr marL="38100" marR="38100" marT="38100" marB="38100" anchor="ctr">
                    <a:lnL>
                      <a:noFill/>
                    </a:lnL>
                    <a:lnR>
                      <a:noFill/>
                    </a:lnR>
                    <a:lnT w="4763" cap="flat" cmpd="sng" algn="ctr">
                      <a:solidFill>
                        <a:srgbClr val="D2D3D7"/>
                      </a:solidFill>
                      <a:prstDash val="solid"/>
                      <a:round/>
                      <a:headEnd type="none" w="med" len="med"/>
                      <a:tailEnd type="none" w="med" len="med"/>
                    </a:lnT>
                    <a:lnB w="4763" cap="flat" cmpd="sng" algn="ctr">
                      <a:solidFill>
                        <a:srgbClr val="D2D3D7"/>
                      </a:solidFill>
                      <a:prstDash val="solid"/>
                      <a:round/>
                      <a:headEnd type="none" w="med" len="med"/>
                      <a:tailEnd type="none" w="med" len="med"/>
                    </a:lnB>
                    <a:solidFill>
                      <a:srgbClr val="FFFFFF"/>
                    </a:solidFill>
                  </a:tcPr>
                </a:tc>
                <a:tc>
                  <a:txBody>
                    <a:bodyPr/>
                    <a:lstStyle/>
                    <a:p>
                      <a:pPr algn="ctr"/>
                      <a:r>
                        <a:rPr lang="en-IN">
                          <a:effectLst/>
                        </a:rPr>
                        <a:t>Backward</a:t>
                      </a:r>
                    </a:p>
                  </a:txBody>
                  <a:tcPr marL="38100" marR="38100" marT="38100" marB="38100" anchor="ctr">
                    <a:lnL>
                      <a:noFill/>
                    </a:lnL>
                    <a:lnR>
                      <a:noFill/>
                    </a:lnR>
                    <a:lnT w="4763" cap="flat" cmpd="sng" algn="ctr">
                      <a:solidFill>
                        <a:srgbClr val="D2D3D7"/>
                      </a:solidFill>
                      <a:prstDash val="solid"/>
                      <a:round/>
                      <a:headEnd type="none" w="med" len="med"/>
                      <a:tailEnd type="none" w="med" len="med"/>
                    </a:lnT>
                    <a:lnB w="4763" cap="flat" cmpd="sng" algn="ctr">
                      <a:solidFill>
                        <a:srgbClr val="D2D3D7"/>
                      </a:solidFill>
                      <a:prstDash val="solid"/>
                      <a:round/>
                      <a:headEnd type="none" w="med" len="med"/>
                      <a:tailEnd type="none" w="med" len="med"/>
                    </a:lnB>
                    <a:solidFill>
                      <a:srgbClr val="FFFFFF"/>
                    </a:solidFill>
                  </a:tcPr>
                </a:tc>
                <a:extLst>
                  <a:ext uri="{0D108BD9-81ED-4DB2-BD59-A6C34878D82A}">
                    <a16:rowId xmlns:a16="http://schemas.microsoft.com/office/drawing/2014/main" val="2907377156"/>
                  </a:ext>
                </a:extLst>
              </a:tr>
              <a:tr h="1943293">
                <a:tc>
                  <a:txBody>
                    <a:bodyPr/>
                    <a:lstStyle/>
                    <a:p>
                      <a:pPr algn="ctr"/>
                      <a:r>
                        <a:rPr lang="en-IN">
                          <a:effectLst/>
                        </a:rPr>
                        <a:t>High(1)</a:t>
                      </a:r>
                    </a:p>
                  </a:txBody>
                  <a:tcPr marL="38100" marR="38100" marT="38100" marB="38100" anchor="ctr">
                    <a:lnL>
                      <a:noFill/>
                    </a:lnL>
                    <a:lnR>
                      <a:noFill/>
                    </a:lnR>
                    <a:lnT w="4763" cap="flat" cmpd="sng" algn="ctr">
                      <a:solidFill>
                        <a:srgbClr val="D2D3D7"/>
                      </a:solidFill>
                      <a:prstDash val="solid"/>
                      <a:round/>
                      <a:headEnd type="none" w="med" len="med"/>
                      <a:tailEnd type="none" w="med" len="med"/>
                    </a:lnT>
                    <a:lnB w="4763" cap="flat" cmpd="sng" algn="ctr">
                      <a:solidFill>
                        <a:srgbClr val="D2D3D7"/>
                      </a:solidFill>
                      <a:prstDash val="solid"/>
                      <a:round/>
                      <a:headEnd type="none" w="med" len="med"/>
                      <a:tailEnd type="none" w="med" len="med"/>
                    </a:lnB>
                    <a:solidFill>
                      <a:srgbClr val="FFFFFF"/>
                    </a:solidFill>
                  </a:tcPr>
                </a:tc>
                <a:tc>
                  <a:txBody>
                    <a:bodyPr/>
                    <a:lstStyle/>
                    <a:p>
                      <a:pPr algn="ctr"/>
                      <a:r>
                        <a:rPr lang="en-IN" dirty="0">
                          <a:effectLst/>
                        </a:rPr>
                        <a:t>High(1)</a:t>
                      </a:r>
                    </a:p>
                  </a:txBody>
                  <a:tcPr marL="38100" marR="38100" marT="38100" marB="38100" anchor="ctr">
                    <a:lnL>
                      <a:noFill/>
                    </a:lnL>
                    <a:lnR>
                      <a:noFill/>
                    </a:lnR>
                    <a:lnT w="4763" cap="flat" cmpd="sng" algn="ctr">
                      <a:solidFill>
                        <a:srgbClr val="D2D3D7"/>
                      </a:solidFill>
                      <a:prstDash val="solid"/>
                      <a:round/>
                      <a:headEnd type="none" w="med" len="med"/>
                      <a:tailEnd type="none" w="med" len="med"/>
                    </a:lnT>
                    <a:lnB w="4763" cap="flat" cmpd="sng" algn="ctr">
                      <a:solidFill>
                        <a:srgbClr val="D2D3D7"/>
                      </a:solidFill>
                      <a:prstDash val="solid"/>
                      <a:round/>
                      <a:headEnd type="none" w="med" len="med"/>
                      <a:tailEnd type="none" w="med" len="med"/>
                    </a:lnB>
                    <a:solidFill>
                      <a:srgbClr val="FFFFFF"/>
                    </a:solidFill>
                  </a:tcPr>
                </a:tc>
                <a:tc>
                  <a:txBody>
                    <a:bodyPr/>
                    <a:lstStyle/>
                    <a:p>
                      <a:pPr algn="ctr"/>
                      <a:r>
                        <a:rPr lang="en-IN" dirty="0">
                          <a:effectLst/>
                        </a:rPr>
                        <a:t>Motor OFF</a:t>
                      </a:r>
                    </a:p>
                  </a:txBody>
                  <a:tcPr marL="38100" marR="38100" marT="38100" marB="38100" anchor="ctr">
                    <a:lnL>
                      <a:noFill/>
                    </a:lnL>
                    <a:lnR>
                      <a:noFill/>
                    </a:lnR>
                    <a:lnT w="4763" cap="flat" cmpd="sng" algn="ctr">
                      <a:solidFill>
                        <a:srgbClr val="D2D3D7"/>
                      </a:solidFill>
                      <a:prstDash val="solid"/>
                      <a:round/>
                      <a:headEnd type="none" w="med" len="med"/>
                      <a:tailEnd type="none" w="med" len="med"/>
                    </a:lnT>
                    <a:lnB w="4763" cap="flat" cmpd="sng" algn="ctr">
                      <a:solidFill>
                        <a:srgbClr val="D2D3D7"/>
                      </a:solidFill>
                      <a:prstDash val="solid"/>
                      <a:round/>
                      <a:headEnd type="none" w="med" len="med"/>
                      <a:tailEnd type="none" w="med" len="med"/>
                    </a:lnB>
                    <a:solidFill>
                      <a:srgbClr val="FFFFFF"/>
                    </a:solidFill>
                  </a:tcPr>
                </a:tc>
                <a:extLst>
                  <a:ext uri="{0D108BD9-81ED-4DB2-BD59-A6C34878D82A}">
                    <a16:rowId xmlns:a16="http://schemas.microsoft.com/office/drawing/2014/main" val="2289153147"/>
                  </a:ext>
                </a:extLst>
              </a:tr>
            </a:tbl>
          </a:graphicData>
        </a:graphic>
      </p:graphicFrame>
    </p:spTree>
    <p:extLst>
      <p:ext uri="{BB962C8B-B14F-4D97-AF65-F5344CB8AC3E}">
        <p14:creationId xmlns:p14="http://schemas.microsoft.com/office/powerpoint/2010/main" val="10621820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E7B490-6A56-A612-6336-92C24C955DC1}"/>
              </a:ext>
            </a:extLst>
          </p:cNvPr>
          <p:cNvSpPr txBox="1"/>
          <p:nvPr/>
        </p:nvSpPr>
        <p:spPr>
          <a:xfrm>
            <a:off x="61645" y="154112"/>
            <a:ext cx="12130355" cy="6740307"/>
          </a:xfrm>
          <a:prstGeom prst="rect">
            <a:avLst/>
          </a:prstGeom>
          <a:noFill/>
        </p:spPr>
        <p:txBody>
          <a:bodyPr wrap="square" rtlCol="0">
            <a:spAutoFit/>
          </a:bodyPr>
          <a:lstStyle/>
          <a:p>
            <a:pPr algn="l" rtl="0"/>
            <a:r>
              <a:rPr lang="en-US" sz="2800" dirty="0">
                <a:solidFill>
                  <a:srgbClr val="282829"/>
                </a:solidFill>
                <a:latin typeface="-apple-system"/>
              </a:rPr>
              <a:t>USES OF LINE FOLLOWER ROBOT :</a:t>
            </a:r>
            <a:endParaRPr lang="en-US" sz="2800" b="0" i="0" dirty="0">
              <a:solidFill>
                <a:srgbClr val="282829"/>
              </a:solidFill>
              <a:effectLst/>
              <a:latin typeface="-apple-system"/>
            </a:endParaRPr>
          </a:p>
          <a:p>
            <a:pPr algn="l" rtl="0"/>
            <a:r>
              <a:rPr lang="en-US" sz="2400" b="0" i="0" dirty="0">
                <a:solidFill>
                  <a:srgbClr val="282829"/>
                </a:solidFill>
                <a:effectLst/>
                <a:latin typeface="-apple-system"/>
              </a:rPr>
              <a:t>Line Follower robots although may seem simple but are one of the most practical and useful robots.</a:t>
            </a:r>
          </a:p>
          <a:p>
            <a:pPr algn="l" rtl="0"/>
            <a:r>
              <a:rPr lang="en-US" sz="2400" b="0" i="0" dirty="0">
                <a:solidFill>
                  <a:srgbClr val="282829"/>
                </a:solidFill>
                <a:effectLst/>
                <a:latin typeface="-apple-system"/>
              </a:rPr>
              <a:t>Line follower robots makes use of sensors and microcontrollers to </a:t>
            </a:r>
            <a:r>
              <a:rPr lang="en-US" sz="2400" b="0" i="0" dirty="0" err="1">
                <a:solidFill>
                  <a:srgbClr val="282829"/>
                </a:solidFill>
                <a:effectLst/>
                <a:latin typeface="-apple-system"/>
              </a:rPr>
              <a:t>operate.You</a:t>
            </a:r>
            <a:r>
              <a:rPr lang="en-US" sz="2400" b="0" i="0" dirty="0">
                <a:solidFill>
                  <a:srgbClr val="282829"/>
                </a:solidFill>
                <a:effectLst/>
                <a:latin typeface="-apple-system"/>
              </a:rPr>
              <a:t> can create different types of line followers based on the arrangement of sensors and the type of IR sensors depending on the percentage of accuracy or precision you need.</a:t>
            </a:r>
          </a:p>
          <a:p>
            <a:pPr algn="l" rtl="0"/>
            <a:r>
              <a:rPr lang="en-US" sz="2400" b="0" i="0" dirty="0">
                <a:solidFill>
                  <a:srgbClr val="282829"/>
                </a:solidFill>
                <a:effectLst/>
                <a:latin typeface="-apple-system"/>
              </a:rPr>
              <a:t>For general purpose you can write a basic </a:t>
            </a:r>
            <a:r>
              <a:rPr lang="en-US" sz="2400" b="0" i="0" dirty="0" err="1">
                <a:solidFill>
                  <a:srgbClr val="282829"/>
                </a:solidFill>
                <a:effectLst/>
                <a:latin typeface="-apple-system"/>
              </a:rPr>
              <a:t>alogrithm</a:t>
            </a:r>
            <a:r>
              <a:rPr lang="en-US" sz="2400" b="0" i="0" dirty="0">
                <a:solidFill>
                  <a:srgbClr val="282829"/>
                </a:solidFill>
                <a:effectLst/>
                <a:latin typeface="-apple-system"/>
              </a:rPr>
              <a:t> with the </a:t>
            </a:r>
            <a:r>
              <a:rPr lang="en-US" sz="2400" b="0" i="0" dirty="0" err="1">
                <a:solidFill>
                  <a:srgbClr val="282829"/>
                </a:solidFill>
                <a:effectLst/>
                <a:latin typeface="-apple-system"/>
              </a:rPr>
              <a:t>ir</a:t>
            </a:r>
            <a:r>
              <a:rPr lang="en-US" sz="2400" b="0" i="0" dirty="0">
                <a:solidFill>
                  <a:srgbClr val="282829"/>
                </a:solidFill>
                <a:effectLst/>
                <a:latin typeface="-apple-system"/>
              </a:rPr>
              <a:t> sensor/line array.</a:t>
            </a:r>
          </a:p>
          <a:p>
            <a:pPr algn="l" rtl="0"/>
            <a:r>
              <a:rPr lang="en-US" sz="2400" b="0" i="0" dirty="0">
                <a:solidFill>
                  <a:srgbClr val="282829"/>
                </a:solidFill>
                <a:effectLst/>
                <a:latin typeface="-apple-system"/>
              </a:rPr>
              <a:t>For industrial purpose you can develop/use a PID algorithm(PID).</a:t>
            </a:r>
          </a:p>
          <a:p>
            <a:pPr algn="l" rtl="0"/>
            <a:r>
              <a:rPr lang="en-US" sz="2400" b="0" i="0" dirty="0">
                <a:solidFill>
                  <a:srgbClr val="282829"/>
                </a:solidFill>
                <a:effectLst/>
                <a:latin typeface="-apple-system"/>
              </a:rPr>
              <a:t>Generally Line followers are being used in various industries</a:t>
            </a:r>
          </a:p>
          <a:p>
            <a:pPr algn="l" rtl="0"/>
            <a:r>
              <a:rPr lang="en-US" sz="2400" b="0" i="0" dirty="0">
                <a:solidFill>
                  <a:srgbClr val="282829"/>
                </a:solidFill>
                <a:effectLst/>
                <a:latin typeface="-apple-system"/>
              </a:rPr>
              <a:t>-Industrial application : The line followers can be used to carry/deliver packages in          warehouses, </a:t>
            </a:r>
            <a:r>
              <a:rPr lang="en-US" sz="2400" b="0" i="0" dirty="0" err="1">
                <a:solidFill>
                  <a:srgbClr val="282829"/>
                </a:solidFill>
                <a:effectLst/>
                <a:latin typeface="-apple-system"/>
              </a:rPr>
              <a:t>airports,restaurants</a:t>
            </a:r>
            <a:r>
              <a:rPr lang="en-US" sz="2400" b="0" i="0" dirty="0">
                <a:solidFill>
                  <a:srgbClr val="282829"/>
                </a:solidFill>
                <a:effectLst/>
                <a:latin typeface="-apple-system"/>
              </a:rPr>
              <a:t> </a:t>
            </a:r>
            <a:r>
              <a:rPr lang="en-US" sz="2400" b="0" i="0" dirty="0" err="1">
                <a:solidFill>
                  <a:srgbClr val="282829"/>
                </a:solidFill>
                <a:effectLst/>
                <a:latin typeface="-apple-system"/>
              </a:rPr>
              <a:t>etc</a:t>
            </a:r>
            <a:endParaRPr lang="en-US" sz="2400" b="0" i="0" dirty="0">
              <a:solidFill>
                <a:srgbClr val="282829"/>
              </a:solidFill>
              <a:effectLst/>
              <a:latin typeface="-apple-system"/>
            </a:endParaRPr>
          </a:p>
          <a:p>
            <a:pPr algn="l" rtl="0"/>
            <a:r>
              <a:rPr lang="en-US" sz="2400" b="0" i="0" dirty="0">
                <a:solidFill>
                  <a:srgbClr val="282829"/>
                </a:solidFill>
                <a:effectLst/>
                <a:latin typeface="-apple-system"/>
              </a:rPr>
              <a:t>-Automobile </a:t>
            </a:r>
            <a:r>
              <a:rPr lang="en-US" sz="2400" b="0" i="0" dirty="0" err="1">
                <a:solidFill>
                  <a:srgbClr val="282829"/>
                </a:solidFill>
                <a:effectLst/>
                <a:latin typeface="-apple-system"/>
              </a:rPr>
              <a:t>Indutries</a:t>
            </a:r>
            <a:r>
              <a:rPr lang="en-US" sz="2400" b="0" i="0" dirty="0">
                <a:solidFill>
                  <a:srgbClr val="282829"/>
                </a:solidFill>
                <a:effectLst/>
                <a:latin typeface="-apple-system"/>
              </a:rPr>
              <a:t> : The line follower can also be used in </a:t>
            </a:r>
            <a:r>
              <a:rPr lang="en-US" sz="2400" b="0" i="0" dirty="0" err="1">
                <a:solidFill>
                  <a:srgbClr val="282829"/>
                </a:solidFill>
                <a:effectLst/>
                <a:latin typeface="-apple-system"/>
              </a:rPr>
              <a:t>cars,taxis</a:t>
            </a:r>
            <a:r>
              <a:rPr lang="en-US" sz="2400" b="0" i="0" dirty="0">
                <a:solidFill>
                  <a:srgbClr val="282829"/>
                </a:solidFill>
                <a:effectLst/>
                <a:latin typeface="-apple-system"/>
              </a:rPr>
              <a:t> and buses to create an autonomous transport system</a:t>
            </a:r>
          </a:p>
          <a:p>
            <a:pPr algn="l" rtl="0"/>
            <a:r>
              <a:rPr lang="en-US" sz="2400" b="0" i="0" dirty="0">
                <a:solidFill>
                  <a:srgbClr val="282829"/>
                </a:solidFill>
                <a:effectLst/>
                <a:latin typeface="-apple-system"/>
              </a:rPr>
              <a:t>-Household application : It can be used for cleaning and transport of household items throughout the house</a:t>
            </a:r>
          </a:p>
          <a:p>
            <a:pPr algn="l" rtl="0"/>
            <a:r>
              <a:rPr lang="en-US" sz="2400" b="0" i="0" dirty="0">
                <a:solidFill>
                  <a:srgbClr val="282829"/>
                </a:solidFill>
                <a:effectLst/>
                <a:latin typeface="-apple-system"/>
              </a:rPr>
              <a:t>-Guidance : It can also be used as guidance for people at </a:t>
            </a:r>
            <a:r>
              <a:rPr lang="en-US" sz="2400" b="0" i="0" dirty="0" err="1">
                <a:solidFill>
                  <a:srgbClr val="282829"/>
                </a:solidFill>
                <a:effectLst/>
                <a:latin typeface="-apple-system"/>
              </a:rPr>
              <a:t>malls,amusement</a:t>
            </a:r>
            <a:r>
              <a:rPr lang="en-US" sz="2400" b="0" i="0" dirty="0">
                <a:solidFill>
                  <a:srgbClr val="282829"/>
                </a:solidFill>
                <a:effectLst/>
                <a:latin typeface="-apple-system"/>
              </a:rPr>
              <a:t> parks and also be of help to physically challenged people helping them go about their daily lives as normal people would</a:t>
            </a:r>
            <a:r>
              <a:rPr lang="en-US" b="0" i="0" dirty="0">
                <a:solidFill>
                  <a:srgbClr val="282829"/>
                </a:solidFill>
                <a:effectLst/>
                <a:latin typeface="-apple-system"/>
              </a:rPr>
              <a:t>.</a:t>
            </a:r>
          </a:p>
        </p:txBody>
      </p:sp>
    </p:spTree>
    <p:extLst>
      <p:ext uri="{BB962C8B-B14F-4D97-AF65-F5344CB8AC3E}">
        <p14:creationId xmlns:p14="http://schemas.microsoft.com/office/powerpoint/2010/main" val="1424595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72665B-3B9A-ACB5-05C4-FA27D097564F}"/>
              </a:ext>
            </a:extLst>
          </p:cNvPr>
          <p:cNvPicPr>
            <a:picLocks noChangeAspect="1"/>
          </p:cNvPicPr>
          <p:nvPr/>
        </p:nvPicPr>
        <p:blipFill>
          <a:blip r:embed="rId2"/>
          <a:stretch>
            <a:fillRect/>
          </a:stretch>
        </p:blipFill>
        <p:spPr>
          <a:xfrm>
            <a:off x="0" y="16978"/>
            <a:ext cx="12192000" cy="6824043"/>
          </a:xfrm>
          <a:prstGeom prst="rect">
            <a:avLst/>
          </a:prstGeom>
        </p:spPr>
      </p:pic>
    </p:spTree>
    <p:extLst>
      <p:ext uri="{BB962C8B-B14F-4D97-AF65-F5344CB8AC3E}">
        <p14:creationId xmlns:p14="http://schemas.microsoft.com/office/powerpoint/2010/main" val="2530676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rtfgrdrewrerewwwwwwwwwwdassssewq4ewqew">
            <a:extLst>
              <a:ext uri="{FF2B5EF4-FFF2-40B4-BE49-F238E27FC236}">
                <a16:creationId xmlns:a16="http://schemas.microsoft.com/office/drawing/2014/main" id="{8AD18003-FD24-7944-8C80-41DE3F845E74}"/>
              </a:ext>
              <a:ext uri="{C183D7F6-B498-43B3-948B-1728B52AA6E4}">
                <adec:decorative xmlns:adec="http://schemas.microsoft.com/office/drawing/2017/decorative" val="0"/>
              </a:ext>
            </a:extLst>
          </p:cNvPr>
          <p:cNvPicPr>
            <a:picLocks noChangeAspect="1"/>
          </p:cNvPicPr>
          <p:nvPr/>
        </p:nvPicPr>
        <p:blipFill>
          <a:blip r:embed="rId2">
            <a:alphaModFix amt="70000"/>
            <a:grayscl/>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tretch>
            <a:fillRect/>
          </a:stretch>
        </p:blipFill>
        <p:spPr>
          <a:xfrm rot="16200000">
            <a:off x="2668240" y="-2668241"/>
            <a:ext cx="6855519" cy="12192001"/>
          </a:xfrm>
          <a:prstGeom prst="rect">
            <a:avLst/>
          </a:prstGeom>
          <a:effectLst>
            <a:glow>
              <a:schemeClr val="accent1">
                <a:alpha val="67000"/>
              </a:schemeClr>
            </a:glow>
            <a:outerShdw blurRad="50800" dist="50800" dir="1740000" algn="ctr" rotWithShape="0">
              <a:srgbClr val="000000">
                <a:alpha val="13000"/>
              </a:srgbClr>
            </a:outerShdw>
            <a:reflection endPos="0" dist="50800" dir="5400000" sy="-100000" algn="bl" rotWithShape="0"/>
            <a:softEdge rad="0"/>
          </a:effectLst>
        </p:spPr>
      </p:pic>
      <p:sp>
        <p:nvSpPr>
          <p:cNvPr id="2" name="TextBox 1">
            <a:extLst>
              <a:ext uri="{FF2B5EF4-FFF2-40B4-BE49-F238E27FC236}">
                <a16:creationId xmlns:a16="http://schemas.microsoft.com/office/drawing/2014/main" id="{2D5C9B4C-C65B-89BE-3150-C7E53864CCCB}"/>
              </a:ext>
            </a:extLst>
          </p:cNvPr>
          <p:cNvSpPr txBox="1"/>
          <p:nvPr/>
        </p:nvSpPr>
        <p:spPr>
          <a:xfrm>
            <a:off x="756007" y="934164"/>
            <a:ext cx="10679986" cy="3139321"/>
          </a:xfrm>
          <a:prstGeom prst="rect">
            <a:avLst/>
          </a:prstGeom>
          <a:noFill/>
        </p:spPr>
        <p:txBody>
          <a:bodyPr wrap="square" rtlCol="0">
            <a:spAutoFit/>
          </a:bodyPr>
          <a:lstStyle/>
          <a:p>
            <a:r>
              <a:rPr lang="en-IN" sz="6600" dirty="0" err="1">
                <a:solidFill>
                  <a:schemeClr val="bg1"/>
                </a:solidFill>
                <a:latin typeface="Algerian" panose="04020705040A02060702" pitchFamily="82" charset="0"/>
              </a:rPr>
              <a:t>Harmitha</a:t>
            </a:r>
            <a:r>
              <a:rPr lang="en-IN" sz="6600" dirty="0">
                <a:solidFill>
                  <a:schemeClr val="bg1"/>
                </a:solidFill>
                <a:latin typeface="Algerian" panose="04020705040A02060702" pitchFamily="82" charset="0"/>
              </a:rPr>
              <a:t> </a:t>
            </a:r>
            <a:r>
              <a:rPr lang="en-IN" sz="6600" dirty="0" err="1">
                <a:solidFill>
                  <a:schemeClr val="bg1"/>
                </a:solidFill>
                <a:latin typeface="Algerian" panose="04020705040A02060702" pitchFamily="82" charset="0"/>
              </a:rPr>
              <a:t>c.k</a:t>
            </a:r>
            <a:endParaRPr lang="en-IN" sz="6600" dirty="0">
              <a:solidFill>
                <a:schemeClr val="bg1"/>
              </a:solidFill>
              <a:latin typeface="Algerian" panose="04020705040A02060702" pitchFamily="82" charset="0"/>
            </a:endParaRPr>
          </a:p>
          <a:p>
            <a:r>
              <a:rPr lang="en-IN" sz="6600" dirty="0">
                <a:solidFill>
                  <a:schemeClr val="bg1"/>
                </a:solidFill>
                <a:latin typeface="Algerian" panose="04020705040A02060702" pitchFamily="82" charset="0"/>
              </a:rPr>
              <a:t>SANDHIYA.R</a:t>
            </a:r>
          </a:p>
          <a:p>
            <a:r>
              <a:rPr lang="en-IN" sz="6600" dirty="0" err="1">
                <a:solidFill>
                  <a:schemeClr val="bg1"/>
                </a:solidFill>
                <a:latin typeface="Algerian" panose="04020705040A02060702" pitchFamily="82" charset="0"/>
              </a:rPr>
              <a:t>Thirisha.r</a:t>
            </a:r>
            <a:endParaRPr lang="en-IN" sz="6600" dirty="0">
              <a:solidFill>
                <a:schemeClr val="bg1"/>
              </a:solidFill>
              <a:latin typeface="Algerian" panose="04020705040A02060702" pitchFamily="82" charset="0"/>
            </a:endParaRPr>
          </a:p>
        </p:txBody>
      </p:sp>
    </p:spTree>
    <p:extLst>
      <p:ext uri="{BB962C8B-B14F-4D97-AF65-F5344CB8AC3E}">
        <p14:creationId xmlns:p14="http://schemas.microsoft.com/office/powerpoint/2010/main" val="16534363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TotalTime>
  <Words>682</Words>
  <Application>Microsoft Office PowerPoint</Application>
  <PresentationFormat>Widescreen</PresentationFormat>
  <Paragraphs>79</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Algerian</vt:lpstr>
      <vt:lpstr>-apple-system</vt:lpstr>
      <vt:lpstr>Arial</vt:lpstr>
      <vt:lpstr>Arimo</vt:lpstr>
      <vt:lpstr>Calibri</vt:lpstr>
      <vt:lpstr>Calibri Light</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Thirisha Rajarajan</dc:creator>
  <cp:lastModifiedBy>Thirisha Rajarajan</cp:lastModifiedBy>
  <cp:revision>5</cp:revision>
  <dcterms:created xsi:type="dcterms:W3CDTF">2023-03-08T12:59:14Z</dcterms:created>
  <dcterms:modified xsi:type="dcterms:W3CDTF">2024-04-07T18:20:12Z</dcterms:modified>
</cp:coreProperties>
</file>